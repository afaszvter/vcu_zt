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1" r:id="rId2"/>
    <p:sldId id="276" r:id="rId3"/>
    <p:sldId id="277" r:id="rId4"/>
    <p:sldId id="282" r:id="rId5"/>
    <p:sldId id="279" r:id="rId6"/>
    <p:sldId id="28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1095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C1F3F-FCDD-48D9-9B7D-7862C5A346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9AA56-6C2C-43D4-824B-369331768A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5A32F1-781C-440D-A8C0-D255897E9AA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36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968D9-9383-4D83-89C1-D3C9E1BBA303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30509" y="1502284"/>
            <a:ext cx="1239714" cy="696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BMS</a:t>
            </a:r>
            <a:endParaRPr lang="zh-CN" alt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711202" y="84689"/>
            <a:ext cx="1882906" cy="67110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639335" y="3513325"/>
            <a:ext cx="1239714" cy="842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开关磁阻</a:t>
            </a:r>
            <a:endParaRPr lang="en-US" altLang="zh-CN" sz="1600" dirty="0"/>
          </a:p>
          <a:p>
            <a:pPr algn="ctr"/>
            <a:r>
              <a:rPr lang="zh-CN" altLang="en-US" sz="1600" dirty="0"/>
              <a:t>多合一</a:t>
            </a:r>
          </a:p>
        </p:txBody>
      </p:sp>
      <p:sp>
        <p:nvSpPr>
          <p:cNvPr id="7" name="矩形 6"/>
          <p:cNvSpPr/>
          <p:nvPr/>
        </p:nvSpPr>
        <p:spPr>
          <a:xfrm>
            <a:off x="4627069" y="4415875"/>
            <a:ext cx="1243154" cy="802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永磁同步</a:t>
            </a:r>
            <a:endParaRPr lang="en-US" altLang="zh-CN" sz="1600" dirty="0"/>
          </a:p>
          <a:p>
            <a:pPr algn="ctr"/>
            <a:r>
              <a:rPr lang="zh-CN" altLang="en-US" sz="1600" dirty="0"/>
              <a:t>多合一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3533779" y="1864978"/>
            <a:ext cx="1093290" cy="185794"/>
            <a:chOff x="2046410" y="1503486"/>
            <a:chExt cx="1451831" cy="167056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63"/>
          <p:cNvSpPr txBox="1"/>
          <p:nvPr/>
        </p:nvSpPr>
        <p:spPr>
          <a:xfrm>
            <a:off x="759502" y="136428"/>
            <a:ext cx="634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BDU</a:t>
            </a:r>
            <a:endParaRPr lang="zh-CN" altLang="en-US" dirty="0"/>
          </a:p>
        </p:txBody>
      </p:sp>
      <p:grpSp>
        <p:nvGrpSpPr>
          <p:cNvPr id="73" name="组合 72"/>
          <p:cNvGrpSpPr/>
          <p:nvPr/>
        </p:nvGrpSpPr>
        <p:grpSpPr>
          <a:xfrm>
            <a:off x="3187504" y="3479560"/>
            <a:ext cx="1451831" cy="167056"/>
            <a:chOff x="2046410" y="1503486"/>
            <a:chExt cx="1451831" cy="167056"/>
          </a:xfrm>
        </p:grpSpPr>
        <p:cxnSp>
          <p:nvCxnSpPr>
            <p:cNvPr id="74" name="直接连接符 73"/>
            <p:cNvCxnSpPr/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187504" y="3787291"/>
            <a:ext cx="1451831" cy="167056"/>
            <a:chOff x="2046410" y="1503486"/>
            <a:chExt cx="1451831" cy="167056"/>
          </a:xfrm>
        </p:grpSpPr>
        <p:cxnSp>
          <p:nvCxnSpPr>
            <p:cNvPr id="78" name="直接连接符 77"/>
            <p:cNvCxnSpPr/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矩形 80"/>
          <p:cNvSpPr/>
          <p:nvPr/>
        </p:nvSpPr>
        <p:spPr>
          <a:xfrm>
            <a:off x="4081013" y="3866376"/>
            <a:ext cx="297293" cy="15609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/>
        </p:nvCxnSpPr>
        <p:spPr>
          <a:xfrm>
            <a:off x="2004214" y="1673004"/>
            <a:ext cx="2640723" cy="147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607638" y="4262076"/>
            <a:ext cx="304239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3205088" y="3646614"/>
            <a:ext cx="0" cy="298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/>
          <p:cNvGrpSpPr/>
          <p:nvPr/>
        </p:nvGrpSpPr>
        <p:grpSpPr>
          <a:xfrm>
            <a:off x="3176806" y="4342765"/>
            <a:ext cx="1451831" cy="167056"/>
            <a:chOff x="2046410" y="1503486"/>
            <a:chExt cx="1451831" cy="167056"/>
          </a:xfrm>
        </p:grpSpPr>
        <p:cxnSp>
          <p:nvCxnSpPr>
            <p:cNvPr id="96" name="直接连接符 95"/>
            <p:cNvCxnSpPr/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/>
          <p:cNvGrpSpPr/>
          <p:nvPr/>
        </p:nvGrpSpPr>
        <p:grpSpPr>
          <a:xfrm>
            <a:off x="3176806" y="4650496"/>
            <a:ext cx="1451831" cy="167056"/>
            <a:chOff x="2046410" y="1503486"/>
            <a:chExt cx="1451831" cy="167056"/>
          </a:xfrm>
        </p:grpSpPr>
        <p:cxnSp>
          <p:nvCxnSpPr>
            <p:cNvPr id="100" name="直接连接符 99"/>
            <p:cNvCxnSpPr/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 102"/>
          <p:cNvSpPr/>
          <p:nvPr/>
        </p:nvSpPr>
        <p:spPr>
          <a:xfrm>
            <a:off x="4070315" y="4729581"/>
            <a:ext cx="297293" cy="15609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连接符 103"/>
          <p:cNvCxnSpPr/>
          <p:nvPr/>
        </p:nvCxnSpPr>
        <p:spPr>
          <a:xfrm>
            <a:off x="3205747" y="4509819"/>
            <a:ext cx="0" cy="298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2037789" y="4509819"/>
            <a:ext cx="12170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1602977" y="5120835"/>
            <a:ext cx="303823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H="1">
            <a:off x="1607986" y="756487"/>
            <a:ext cx="8826" cy="58943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2035012" y="395957"/>
            <a:ext cx="7209" cy="59027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1655267" y="756487"/>
            <a:ext cx="3113210" cy="176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2073006" y="395957"/>
            <a:ext cx="2688585" cy="84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4628637" y="5265625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制动电阻</a:t>
            </a:r>
            <a:endParaRPr lang="en-US" altLang="zh-CN" sz="1600" dirty="0"/>
          </a:p>
          <a:p>
            <a:pPr algn="ctr"/>
            <a:r>
              <a:rPr lang="en-US" altLang="zh-CN" sz="1600"/>
              <a:t>BR</a:t>
            </a:r>
            <a:r>
              <a:rPr lang="en-US" altLang="zh-CN" sz="1600" dirty="0"/>
              <a:t>S</a:t>
            </a:r>
            <a:endParaRPr lang="zh-CN" altLang="en-US" sz="1600" dirty="0"/>
          </a:p>
        </p:txBody>
      </p:sp>
      <p:sp>
        <p:nvSpPr>
          <p:cNvPr id="137" name="矩形 136"/>
          <p:cNvSpPr/>
          <p:nvPr/>
        </p:nvSpPr>
        <p:spPr>
          <a:xfrm>
            <a:off x="4671269" y="237029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水冷机组</a:t>
            </a:r>
            <a:endParaRPr lang="en-US" altLang="zh-CN" sz="1600" dirty="0"/>
          </a:p>
          <a:p>
            <a:pPr algn="ctr"/>
            <a:r>
              <a:rPr lang="en-US" altLang="zh-CN" sz="1600" dirty="0"/>
              <a:t>TMS</a:t>
            </a:r>
            <a:endParaRPr lang="zh-CN" altLang="en-US" sz="1600" dirty="0"/>
          </a:p>
        </p:txBody>
      </p:sp>
      <p:cxnSp>
        <p:nvCxnSpPr>
          <p:cNvPr id="140" name="直接连接符 139"/>
          <p:cNvCxnSpPr/>
          <p:nvPr/>
        </p:nvCxnSpPr>
        <p:spPr>
          <a:xfrm>
            <a:off x="1607986" y="5860773"/>
            <a:ext cx="30206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8064498" y="84689"/>
            <a:ext cx="1239714" cy="6773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VCU</a:t>
            </a:r>
            <a:endParaRPr lang="zh-CN" altLang="en-US" sz="1600" dirty="0"/>
          </a:p>
        </p:txBody>
      </p:sp>
      <p:cxnSp>
        <p:nvCxnSpPr>
          <p:cNvPr id="86" name="直接连接符 85"/>
          <p:cNvCxnSpPr/>
          <p:nvPr/>
        </p:nvCxnSpPr>
        <p:spPr>
          <a:xfrm>
            <a:off x="2025377" y="3646614"/>
            <a:ext cx="12170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4637463" y="2674589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OBC</a:t>
            </a:r>
            <a:endParaRPr lang="zh-CN" altLang="en-US" sz="1600" dirty="0"/>
          </a:p>
        </p:txBody>
      </p:sp>
      <p:cxnSp>
        <p:nvCxnSpPr>
          <p:cNvPr id="92" name="直接连接符 91"/>
          <p:cNvCxnSpPr/>
          <p:nvPr/>
        </p:nvCxnSpPr>
        <p:spPr>
          <a:xfrm>
            <a:off x="1616812" y="3269737"/>
            <a:ext cx="30206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2009296" y="2899979"/>
            <a:ext cx="26281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1602556" y="2026328"/>
            <a:ext cx="2059917" cy="24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1607986" y="6650867"/>
            <a:ext cx="3113210" cy="176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2044775" y="6328437"/>
            <a:ext cx="2688585" cy="84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4628637" y="6074937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TVW</a:t>
            </a:r>
            <a:endParaRPr lang="zh-CN" altLang="en-US" sz="1600" dirty="0"/>
          </a:p>
        </p:txBody>
      </p:sp>
      <p:cxnSp>
        <p:nvCxnSpPr>
          <p:cNvPr id="121" name="直接箭头连接符 120"/>
          <p:cNvCxnSpPr/>
          <p:nvPr/>
        </p:nvCxnSpPr>
        <p:spPr>
          <a:xfrm flipH="1">
            <a:off x="5870223" y="1689695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H="1">
            <a:off x="5870224" y="1977333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4898326" y="2218050"/>
            <a:ext cx="0" cy="4565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 flipH="1" flipV="1">
            <a:off x="5619470" y="2218050"/>
            <a:ext cx="462" cy="4565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6058067" y="1423225"/>
            <a:ext cx="1674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VCU_BMS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zh-CN" altLang="en-US" sz="1200" dirty="0"/>
              <a:t>请求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5863702" y="1996763"/>
            <a:ext cx="2114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BMS_Relay</a:t>
            </a:r>
            <a:r>
              <a:rPr lang="en-US" altLang="zh-CN" sz="1200" dirty="0"/>
              <a:t> Status</a:t>
            </a:r>
            <a:r>
              <a:rPr lang="zh-CN" altLang="en-US" sz="1200" dirty="0"/>
              <a:t>主负接电器</a:t>
            </a:r>
          </a:p>
        </p:txBody>
      </p:sp>
      <p:cxnSp>
        <p:nvCxnSpPr>
          <p:cNvPr id="131" name="直接箭头连接符 130"/>
          <p:cNvCxnSpPr/>
          <p:nvPr/>
        </p:nvCxnSpPr>
        <p:spPr>
          <a:xfrm flipH="1">
            <a:off x="5863702" y="3801034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>
            <a:off x="5863703" y="4114072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 flipH="1">
            <a:off x="5856748" y="4611979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 flipH="1">
            <a:off x="5856749" y="4925017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5874701" y="5543355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/>
        </p:nvCxnSpPr>
        <p:spPr>
          <a:xfrm flipH="1">
            <a:off x="5874702" y="5761143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 flipH="1">
            <a:off x="5910983" y="460835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 flipH="1">
            <a:off x="5910984" y="697673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/>
          <p:cNvSpPr txBox="1"/>
          <p:nvPr/>
        </p:nvSpPr>
        <p:spPr>
          <a:xfrm>
            <a:off x="2885306" y="1743040"/>
            <a:ext cx="1029928" cy="28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主负接电器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3310387" y="2300370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dirty="0"/>
              <a:t>BMS_OBC充电控制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5619470" y="2400548"/>
            <a:ext cx="180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 err="1"/>
              <a:t>OBC_Charger</a:t>
            </a:r>
            <a:r>
              <a:rPr lang="en-US" altLang="zh-CN" dirty="0"/>
              <a:t> Status</a:t>
            </a:r>
            <a:endParaRPr lang="zh-CN" altLang="en-US" dirty="0"/>
          </a:p>
        </p:txBody>
      </p:sp>
      <p:sp>
        <p:nvSpPr>
          <p:cNvPr id="149" name="文本框 148"/>
          <p:cNvSpPr txBox="1"/>
          <p:nvPr/>
        </p:nvSpPr>
        <p:spPr>
          <a:xfrm>
            <a:off x="5614214" y="1102257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BMS2TMS</a:t>
            </a:r>
            <a:r>
              <a:rPr lang="zh-CN" altLang="en-US" dirty="0"/>
              <a:t>目标温度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3124048" y="1082409"/>
            <a:ext cx="18829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TMS2BMS</a:t>
            </a:r>
            <a:r>
              <a:rPr lang="zh-CN" altLang="en-US" dirty="0"/>
              <a:t>进水</a:t>
            </a:r>
            <a:r>
              <a:rPr lang="en-US" altLang="zh-CN" dirty="0"/>
              <a:t>/</a:t>
            </a:r>
            <a:r>
              <a:rPr lang="zh-CN" altLang="en-US" dirty="0"/>
              <a:t>回水温度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058067" y="713318"/>
            <a:ext cx="1887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TMS2VCU</a:t>
            </a:r>
            <a:r>
              <a:rPr lang="zh-CN" altLang="en-US" dirty="0"/>
              <a:t>请求风机档位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6146604" y="193108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VCU2TMS</a:t>
            </a:r>
            <a:r>
              <a:rPr lang="zh-CN" altLang="en-US" dirty="0"/>
              <a:t>风机档位</a:t>
            </a:r>
          </a:p>
        </p:txBody>
      </p:sp>
      <p:cxnSp>
        <p:nvCxnSpPr>
          <p:cNvPr id="153" name="直接箭头连接符 152"/>
          <p:cNvCxnSpPr/>
          <p:nvPr/>
        </p:nvCxnSpPr>
        <p:spPr>
          <a:xfrm>
            <a:off x="4902626" y="1027193"/>
            <a:ext cx="0" cy="4565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 flipH="1" flipV="1">
            <a:off x="5623770" y="1027193"/>
            <a:ext cx="462" cy="4565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/>
        </p:nvSpPr>
        <p:spPr>
          <a:xfrm>
            <a:off x="5933318" y="5245519"/>
            <a:ext cx="21204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VCU2BRS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zh-CN" altLang="en-US" sz="1200" dirty="0"/>
              <a:t>和功率请求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6000459" y="5763782"/>
            <a:ext cx="1958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VCU2BRS</a:t>
            </a:r>
            <a:r>
              <a:rPr lang="zh-CN" altLang="en-US" sz="1200" dirty="0"/>
              <a:t>工作模式和功率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6017510" y="3321507"/>
            <a:ext cx="1674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Ctrl_HVC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zh-CN" altLang="en-US" sz="1200" dirty="0"/>
              <a:t>请求</a:t>
            </a:r>
            <a:endParaRPr lang="en-US" altLang="zh-CN" sz="1200" dirty="0"/>
          </a:p>
          <a:p>
            <a:r>
              <a:rPr lang="en-US" altLang="zh-CN" sz="1200" dirty="0"/>
              <a:t>DCDC</a:t>
            </a:r>
            <a:r>
              <a:rPr lang="zh-CN" altLang="en-US" sz="1200" dirty="0"/>
              <a:t>使能</a:t>
            </a:r>
            <a:r>
              <a:rPr lang="en-US" altLang="zh-CN" sz="1200" dirty="0"/>
              <a:t>+</a:t>
            </a:r>
            <a:r>
              <a:rPr lang="zh-CN" altLang="en-US" sz="1200" dirty="0"/>
              <a:t>电机控制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5966396" y="4087334"/>
            <a:ext cx="1940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HVC4_RlySt</a:t>
            </a:r>
            <a:r>
              <a:rPr lang="zh-CN" altLang="en-US" sz="1200" dirty="0"/>
              <a:t>继电器状态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5910983" y="4362166"/>
            <a:ext cx="2150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VCU_PDU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en-US" altLang="zh-CN" sz="1200" dirty="0">
                <a:solidFill>
                  <a:srgbClr val="FF0000"/>
                </a:solidFill>
              </a:rPr>
              <a:t>+</a:t>
            </a:r>
            <a:r>
              <a:rPr lang="zh-CN" altLang="en-US" sz="1200" dirty="0">
                <a:solidFill>
                  <a:srgbClr val="FF0000"/>
                </a:solidFill>
              </a:rPr>
              <a:t>继电器</a:t>
            </a:r>
            <a:r>
              <a:rPr lang="zh-CN" altLang="en-US" sz="1200" dirty="0"/>
              <a:t>请求</a:t>
            </a:r>
            <a:endParaRPr lang="en-US" altLang="zh-CN" sz="1200" dirty="0"/>
          </a:p>
          <a:p>
            <a:r>
              <a:rPr lang="en-US" altLang="zh-CN" sz="1200" dirty="0"/>
              <a:t>ACU</a:t>
            </a:r>
            <a:r>
              <a:rPr lang="zh-CN" altLang="en-US" sz="1200" dirty="0"/>
              <a:t>使能</a:t>
            </a:r>
            <a:r>
              <a:rPr lang="en-US" altLang="zh-CN" sz="1200" dirty="0"/>
              <a:t>+</a:t>
            </a:r>
            <a:r>
              <a:rPr lang="zh-CN" altLang="en-US" sz="1200" dirty="0"/>
              <a:t>电机控制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5966396" y="4913155"/>
            <a:ext cx="1940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PDU_RelaySt</a:t>
            </a:r>
            <a:r>
              <a:rPr lang="zh-CN" altLang="en-US" sz="1200" dirty="0"/>
              <a:t>继电器状态</a:t>
            </a:r>
          </a:p>
        </p:txBody>
      </p:sp>
      <p:cxnSp>
        <p:nvCxnSpPr>
          <p:cNvPr id="161" name="直接箭头连接符 160"/>
          <p:cNvCxnSpPr/>
          <p:nvPr/>
        </p:nvCxnSpPr>
        <p:spPr>
          <a:xfrm flipH="1">
            <a:off x="5880534" y="6349274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/>
          <p:cNvCxnSpPr/>
          <p:nvPr/>
        </p:nvCxnSpPr>
        <p:spPr>
          <a:xfrm flipH="1">
            <a:off x="5880535" y="6586112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939151" y="6051438"/>
            <a:ext cx="21204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VCU_TWV</a:t>
            </a:r>
            <a:r>
              <a:rPr lang="zh-CN" altLang="en-US" sz="1200" dirty="0"/>
              <a:t>阀目标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5993173" y="6575392"/>
            <a:ext cx="1958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TWV</a:t>
            </a:r>
            <a:r>
              <a:rPr lang="zh-CN" altLang="en-US" sz="1200" dirty="0"/>
              <a:t>阀状态</a:t>
            </a:r>
          </a:p>
        </p:txBody>
      </p:sp>
      <p:grpSp>
        <p:nvGrpSpPr>
          <p:cNvPr id="169" name="组合 168"/>
          <p:cNvGrpSpPr/>
          <p:nvPr/>
        </p:nvGrpSpPr>
        <p:grpSpPr>
          <a:xfrm>
            <a:off x="3185632" y="5403905"/>
            <a:ext cx="1451831" cy="167056"/>
            <a:chOff x="2046410" y="1503486"/>
            <a:chExt cx="1451831" cy="167056"/>
          </a:xfrm>
        </p:grpSpPr>
        <p:cxnSp>
          <p:nvCxnSpPr>
            <p:cNvPr id="170" name="直接连接符 169"/>
            <p:cNvCxnSpPr/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3" name="直接连接符 172"/>
          <p:cNvCxnSpPr/>
          <p:nvPr/>
        </p:nvCxnSpPr>
        <p:spPr>
          <a:xfrm>
            <a:off x="2046615" y="5570959"/>
            <a:ext cx="12170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>
            <a:stCxn id="91" idx="3"/>
          </p:cNvCxnSpPr>
          <p:nvPr/>
        </p:nvCxnSpPr>
        <p:spPr>
          <a:xfrm>
            <a:off x="5877177" y="3057056"/>
            <a:ext cx="2153514" cy="14260"/>
          </a:xfrm>
          <a:prstGeom prst="line">
            <a:avLst/>
          </a:prstGeom>
          <a:ln w="38100">
            <a:solidFill>
              <a:schemeClr val="accent4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/>
          <p:cNvSpPr txBox="1"/>
          <p:nvPr/>
        </p:nvSpPr>
        <p:spPr>
          <a:xfrm>
            <a:off x="7077729" y="2779418"/>
            <a:ext cx="9100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dirty="0"/>
              <a:t>唤醒</a:t>
            </a:r>
          </a:p>
        </p:txBody>
      </p:sp>
      <p:cxnSp>
        <p:nvCxnSpPr>
          <p:cNvPr id="181" name="直接箭头连接符 180"/>
          <p:cNvCxnSpPr/>
          <p:nvPr/>
        </p:nvCxnSpPr>
        <p:spPr>
          <a:xfrm flipH="1">
            <a:off x="9309605" y="3069346"/>
            <a:ext cx="1881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/>
          <p:cNvSpPr txBox="1"/>
          <p:nvPr/>
        </p:nvSpPr>
        <p:spPr>
          <a:xfrm>
            <a:off x="9462087" y="2780057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dirty="0"/>
              <a:t>充电请求</a:t>
            </a:r>
          </a:p>
        </p:txBody>
      </p:sp>
      <p:cxnSp>
        <p:nvCxnSpPr>
          <p:cNvPr id="185" name="直接箭头连接符 184"/>
          <p:cNvCxnSpPr/>
          <p:nvPr/>
        </p:nvCxnSpPr>
        <p:spPr>
          <a:xfrm flipH="1">
            <a:off x="9309605" y="3768849"/>
            <a:ext cx="1881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9462087" y="3479560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IG START</a:t>
            </a:r>
            <a:r>
              <a:rPr lang="zh-CN" altLang="en-US" dirty="0"/>
              <a:t>或</a:t>
            </a:r>
            <a:r>
              <a:rPr lang="en-US" altLang="zh-CN" dirty="0"/>
              <a:t>IG OFF</a:t>
            </a:r>
            <a:endParaRPr lang="zh-CN" altLang="en-US" dirty="0"/>
          </a:p>
        </p:txBody>
      </p:sp>
      <p:sp>
        <p:nvSpPr>
          <p:cNvPr id="106" name="内容占位符 2"/>
          <p:cNvSpPr txBox="1"/>
          <p:nvPr/>
        </p:nvSpPr>
        <p:spPr>
          <a:xfrm>
            <a:off x="9390239" y="74354"/>
            <a:ext cx="2701490" cy="121068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请确认高压系统结构图是否正确；</a:t>
            </a:r>
            <a:endParaRPr lang="en-US" altLang="zh-CN" sz="1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永磁同步多合一中还有</a:t>
            </a:r>
            <a:r>
              <a:rPr lang="en-US" altLang="zh-CN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ACU</a:t>
            </a: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等接电器，此图未画出来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endParaRPr lang="en-US" altLang="zh-CN" sz="1000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高压架构没问题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560" y="240720"/>
            <a:ext cx="2327241" cy="53144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高压上电流程：</a:t>
            </a:r>
            <a:endParaRPr lang="en-US" altLang="zh-CN" dirty="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972111" y="1246412"/>
            <a:ext cx="6878" cy="5130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3820261" y="1246412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 txBox="1"/>
          <p:nvPr/>
        </p:nvSpPr>
        <p:spPr>
          <a:xfrm>
            <a:off x="325349" y="720437"/>
            <a:ext cx="1352479" cy="275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1000" b="1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itchFamily="2" charset="-122"/>
                <a:ea typeface="宋体" pitchFamily="2" charset="-122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r>
              <a:rPr lang="en-US" altLang="zh-CN" dirty="0"/>
              <a:t>VCU</a:t>
            </a:r>
            <a:endParaRPr lang="zh-CN" altLang="en-US" dirty="0"/>
          </a:p>
        </p:txBody>
      </p:sp>
      <p:sp>
        <p:nvSpPr>
          <p:cNvPr id="10" name="内容占位符 2"/>
          <p:cNvSpPr txBox="1"/>
          <p:nvPr/>
        </p:nvSpPr>
        <p:spPr>
          <a:xfrm>
            <a:off x="3154270" y="714972"/>
            <a:ext cx="1352479" cy="235082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BMS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4" name="内容占位符 2"/>
          <p:cNvSpPr txBox="1"/>
          <p:nvPr/>
        </p:nvSpPr>
        <p:spPr>
          <a:xfrm>
            <a:off x="3055795" y="263156"/>
            <a:ext cx="5483354" cy="34917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钥匙</a:t>
            </a: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start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960567" y="1888142"/>
            <a:ext cx="2838087" cy="24121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内容占位符 2"/>
          <p:cNvSpPr txBox="1"/>
          <p:nvPr/>
        </p:nvSpPr>
        <p:spPr>
          <a:xfrm>
            <a:off x="1466851" y="1747812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发送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VCU_BMS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高压上电命令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4" name="内容占位符 2"/>
          <p:cNvSpPr txBox="1"/>
          <p:nvPr/>
        </p:nvSpPr>
        <p:spPr>
          <a:xfrm>
            <a:off x="1032238" y="944759"/>
            <a:ext cx="2834184" cy="699161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判断条件：</a:t>
            </a:r>
            <a:endParaRPr lang="en-US" altLang="zh-CN" sz="10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充电连接无效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BMS: </a:t>
            </a:r>
            <a:r>
              <a:rPr lang="zh-CN" altLang="en-US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自检结果、绝缘电阻、故障等级</a:t>
            </a:r>
            <a:endParaRPr lang="en-US" altLang="zh-CN" sz="1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MCU</a:t>
            </a:r>
            <a:r>
              <a:rPr lang="zh-CN" altLang="en-US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等：无严重故障</a:t>
            </a:r>
            <a:endParaRPr lang="en-US" altLang="zh-CN" sz="1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内容占位符 2"/>
          <p:cNvSpPr txBox="1"/>
          <p:nvPr/>
        </p:nvSpPr>
        <p:spPr>
          <a:xfrm>
            <a:off x="3822937" y="2095736"/>
            <a:ext cx="1055414" cy="218576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主负继电器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1005446" y="2268932"/>
            <a:ext cx="2793209" cy="22193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/>
          <p:cNvSpPr txBox="1"/>
          <p:nvPr/>
        </p:nvSpPr>
        <p:spPr>
          <a:xfrm>
            <a:off x="1391474" y="2205048"/>
            <a:ext cx="196167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返回</a:t>
            </a: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BMS_Relay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主负继电器闭合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 flipH="1">
            <a:off x="6629766" y="1398344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973994" y="3680213"/>
            <a:ext cx="5628543" cy="330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/>
          <p:cNvSpPr txBox="1"/>
          <p:nvPr/>
        </p:nvSpPr>
        <p:spPr>
          <a:xfrm>
            <a:off x="6006989" y="714972"/>
            <a:ext cx="1352479" cy="226136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开关磁阻</a:t>
            </a:r>
          </a:p>
        </p:txBody>
      </p:sp>
      <p:sp>
        <p:nvSpPr>
          <p:cNvPr id="54" name="内容占位符 2"/>
          <p:cNvSpPr txBox="1"/>
          <p:nvPr/>
        </p:nvSpPr>
        <p:spPr>
          <a:xfrm>
            <a:off x="4318309" y="3722509"/>
            <a:ext cx="1677152" cy="22506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VCU_DCDC1+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电机使能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977616" y="2633249"/>
            <a:ext cx="5645350" cy="29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内容占位符 2"/>
          <p:cNvSpPr txBox="1"/>
          <p:nvPr/>
        </p:nvSpPr>
        <p:spPr>
          <a:xfrm>
            <a:off x="4213930" y="2481813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Ctrl_HVC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上电指令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 flipH="1">
            <a:off x="969823" y="3222955"/>
            <a:ext cx="5660310" cy="145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内容占位符 2"/>
          <p:cNvSpPr txBox="1"/>
          <p:nvPr/>
        </p:nvSpPr>
        <p:spPr>
          <a:xfrm>
            <a:off x="6700359" y="2992380"/>
            <a:ext cx="963497" cy="26857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预充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主正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7" name="内容占位符 2"/>
          <p:cNvSpPr txBox="1"/>
          <p:nvPr/>
        </p:nvSpPr>
        <p:spPr>
          <a:xfrm>
            <a:off x="4213930" y="3097372"/>
            <a:ext cx="2165626" cy="23192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HVC4_RlySt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上电状态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HVC7_HV1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电压等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9189061" y="1364595"/>
            <a:ext cx="0" cy="522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内容占位符 2"/>
          <p:cNvSpPr txBox="1"/>
          <p:nvPr/>
        </p:nvSpPr>
        <p:spPr>
          <a:xfrm>
            <a:off x="8539149" y="714972"/>
            <a:ext cx="1352479" cy="226136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永磁同步</a:t>
            </a:r>
          </a:p>
        </p:txBody>
      </p:sp>
      <p:sp>
        <p:nvSpPr>
          <p:cNvPr id="72" name="内容占位符 2"/>
          <p:cNvSpPr txBox="1"/>
          <p:nvPr/>
        </p:nvSpPr>
        <p:spPr>
          <a:xfrm>
            <a:off x="9169070" y="4529741"/>
            <a:ext cx="984091" cy="31893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预充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主正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>
            <a:off x="1000264" y="4199455"/>
            <a:ext cx="8156480" cy="29331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内容占位符 2"/>
          <p:cNvSpPr txBox="1"/>
          <p:nvPr/>
        </p:nvSpPr>
        <p:spPr>
          <a:xfrm>
            <a:off x="6935862" y="4079679"/>
            <a:ext cx="2026711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上电指令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+DCDC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继电器请求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966929" y="4704230"/>
            <a:ext cx="8189815" cy="3019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内容占位符 2"/>
          <p:cNvSpPr txBox="1"/>
          <p:nvPr/>
        </p:nvSpPr>
        <p:spPr>
          <a:xfrm>
            <a:off x="6925849" y="4857533"/>
            <a:ext cx="2144094" cy="5285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PDU_RelaySts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ACU1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电压等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1030895" y="5240712"/>
            <a:ext cx="8170493" cy="40871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内容占位符 2"/>
          <p:cNvSpPr txBox="1"/>
          <p:nvPr/>
        </p:nvSpPr>
        <p:spPr>
          <a:xfrm>
            <a:off x="7264449" y="5312382"/>
            <a:ext cx="1677152" cy="26537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VCU_ACU1+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电机使能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11395233" y="1311885"/>
            <a:ext cx="0" cy="522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内容占位符 2"/>
          <p:cNvSpPr txBox="1"/>
          <p:nvPr/>
        </p:nvSpPr>
        <p:spPr>
          <a:xfrm>
            <a:off x="10745321" y="700410"/>
            <a:ext cx="1352479" cy="30617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制动电阻</a:t>
            </a: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977616" y="5913990"/>
            <a:ext cx="10360576" cy="54137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/>
          <p:cNvSpPr txBox="1"/>
          <p:nvPr/>
        </p:nvSpPr>
        <p:spPr>
          <a:xfrm>
            <a:off x="9558559" y="6110814"/>
            <a:ext cx="1915797" cy="26123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00" dirty="0"/>
              <a:t>VCU2BRS</a:t>
            </a:r>
            <a:r>
              <a:rPr lang="zh-CN" altLang="en-US" sz="1000" dirty="0"/>
              <a:t>上电请求</a:t>
            </a:r>
          </a:p>
        </p:txBody>
      </p:sp>
      <p:sp>
        <p:nvSpPr>
          <p:cNvPr id="62" name="内容占位符 2"/>
          <p:cNvSpPr txBox="1"/>
          <p:nvPr/>
        </p:nvSpPr>
        <p:spPr>
          <a:xfrm>
            <a:off x="901065" y="6509385"/>
            <a:ext cx="8061325" cy="4578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开关磁阻、永磁同步、制动电阻无先后顺序，并行执行，可分别独立测试。——</a:t>
            </a:r>
            <a:r>
              <a:rPr lang="zh-CN" altLang="en-US" sz="1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是的，先分别独立调试</a:t>
            </a:r>
          </a:p>
        </p:txBody>
      </p:sp>
      <p:sp>
        <p:nvSpPr>
          <p:cNvPr id="63" name="内容占位符 2"/>
          <p:cNvSpPr txBox="1"/>
          <p:nvPr/>
        </p:nvSpPr>
        <p:spPr>
          <a:xfrm>
            <a:off x="979478" y="3398639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检测上电完成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8" name="内容占位符 2"/>
          <p:cNvSpPr txBox="1"/>
          <p:nvPr/>
        </p:nvSpPr>
        <p:spPr>
          <a:xfrm>
            <a:off x="1044039" y="5004835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检测上电完成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560" y="240720"/>
            <a:ext cx="2365793" cy="53144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高压下电流程：</a:t>
            </a: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802194" y="1239780"/>
            <a:ext cx="6878" cy="5130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3625476" y="1239780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 txBox="1"/>
          <p:nvPr/>
        </p:nvSpPr>
        <p:spPr>
          <a:xfrm>
            <a:off x="131634" y="770860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VCU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2984353" y="708340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BMS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802194" y="5011947"/>
            <a:ext cx="2858398" cy="3303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内容占位符 2"/>
          <p:cNvSpPr txBox="1"/>
          <p:nvPr/>
        </p:nvSpPr>
        <p:spPr>
          <a:xfrm>
            <a:off x="1212282" y="4970382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发送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VCU_BMS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紧急下电命令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4" name="内容占位符 2"/>
          <p:cNvSpPr txBox="1"/>
          <p:nvPr/>
        </p:nvSpPr>
        <p:spPr>
          <a:xfrm>
            <a:off x="3412315" y="328874"/>
            <a:ext cx="1352479" cy="246302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1000" b="1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itchFamily="2" charset="-122"/>
                <a:ea typeface="宋体" pitchFamily="2" charset="-122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r>
              <a:rPr lang="zh-CN" altLang="en-US" dirty="0"/>
              <a:t>钥匙</a:t>
            </a:r>
            <a:r>
              <a:rPr lang="en-US" altLang="zh-CN" dirty="0"/>
              <a:t>Off</a:t>
            </a:r>
            <a:r>
              <a:rPr lang="zh-CN" altLang="en-US" dirty="0"/>
              <a:t>或严重故障</a:t>
            </a:r>
          </a:p>
        </p:txBody>
      </p:sp>
      <p:sp>
        <p:nvSpPr>
          <p:cNvPr id="46" name="内容占位符 2"/>
          <p:cNvSpPr txBox="1"/>
          <p:nvPr/>
        </p:nvSpPr>
        <p:spPr>
          <a:xfrm>
            <a:off x="3765990" y="5531685"/>
            <a:ext cx="901932" cy="23163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断开主负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 flipH="1">
            <a:off x="775846" y="5517671"/>
            <a:ext cx="2759958" cy="24564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2"/>
          <p:cNvSpPr txBox="1"/>
          <p:nvPr/>
        </p:nvSpPr>
        <p:spPr>
          <a:xfrm>
            <a:off x="1366068" y="5470113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返回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0x1E4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</a:t>
            </a: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NotReady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 flipH="1">
            <a:off x="6513192" y="1415360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/>
          <p:cNvSpPr txBox="1"/>
          <p:nvPr/>
        </p:nvSpPr>
        <p:spPr>
          <a:xfrm>
            <a:off x="5643938" y="708340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开关磁阻</a:t>
            </a: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9009311" y="1312460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内容占位符 2"/>
          <p:cNvSpPr txBox="1"/>
          <p:nvPr/>
        </p:nvSpPr>
        <p:spPr>
          <a:xfrm>
            <a:off x="8273434" y="671272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永磁同步</a:t>
            </a:r>
          </a:p>
        </p:txBody>
      </p:sp>
      <p:sp>
        <p:nvSpPr>
          <p:cNvPr id="43" name="内容占位符 2"/>
          <p:cNvSpPr txBox="1"/>
          <p:nvPr/>
        </p:nvSpPr>
        <p:spPr>
          <a:xfrm>
            <a:off x="6500063" y="1958808"/>
            <a:ext cx="950504" cy="2389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断开主正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830681" y="1634976"/>
            <a:ext cx="5645350" cy="29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内容占位符 2"/>
          <p:cNvSpPr txBox="1"/>
          <p:nvPr/>
        </p:nvSpPr>
        <p:spPr>
          <a:xfrm>
            <a:off x="4066208" y="1681838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Ctrl_HVC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820920" y="2198185"/>
            <a:ext cx="5702300" cy="293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/>
          <p:cNvSpPr txBox="1"/>
          <p:nvPr/>
        </p:nvSpPr>
        <p:spPr>
          <a:xfrm>
            <a:off x="4066208" y="2050001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HVC4_RlySt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801877" y="3187072"/>
            <a:ext cx="8215073" cy="31083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内容占位符 2"/>
          <p:cNvSpPr txBox="1"/>
          <p:nvPr/>
        </p:nvSpPr>
        <p:spPr>
          <a:xfrm>
            <a:off x="7014592" y="3253767"/>
            <a:ext cx="1677152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796766" y="3761248"/>
            <a:ext cx="8230720" cy="27405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内容占位符 2"/>
          <p:cNvSpPr txBox="1"/>
          <p:nvPr/>
        </p:nvSpPr>
        <p:spPr>
          <a:xfrm>
            <a:off x="7290697" y="3635860"/>
            <a:ext cx="1677152" cy="39905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PDU_RelaySts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809072" y="1406116"/>
            <a:ext cx="5650777" cy="2910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内容占位符 2"/>
          <p:cNvSpPr txBox="1"/>
          <p:nvPr/>
        </p:nvSpPr>
        <p:spPr>
          <a:xfrm>
            <a:off x="4088554" y="1365224"/>
            <a:ext cx="1677152" cy="25397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VCU_DCDC1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关闭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848491" y="2898688"/>
            <a:ext cx="8151494" cy="34316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内容占位符 2"/>
          <p:cNvSpPr txBox="1"/>
          <p:nvPr/>
        </p:nvSpPr>
        <p:spPr>
          <a:xfrm>
            <a:off x="7093194" y="2953196"/>
            <a:ext cx="1677152" cy="2373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VCU_ACU1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关闭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内容占位符 2"/>
          <p:cNvSpPr txBox="1"/>
          <p:nvPr/>
        </p:nvSpPr>
        <p:spPr>
          <a:xfrm>
            <a:off x="9067095" y="3240728"/>
            <a:ext cx="950504" cy="2389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断开主正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11223114" y="1285061"/>
            <a:ext cx="0" cy="522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内容占位符 2"/>
          <p:cNvSpPr txBox="1"/>
          <p:nvPr/>
        </p:nvSpPr>
        <p:spPr>
          <a:xfrm>
            <a:off x="10573202" y="673586"/>
            <a:ext cx="1352479" cy="30617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制动电阻</a:t>
            </a: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862538" y="4399149"/>
            <a:ext cx="10360576" cy="54137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内容占位符 2"/>
          <p:cNvSpPr txBox="1"/>
          <p:nvPr/>
        </p:nvSpPr>
        <p:spPr>
          <a:xfrm>
            <a:off x="9443481" y="4595973"/>
            <a:ext cx="1915797" cy="26123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00" dirty="0"/>
              <a:t>VCU2BRS</a:t>
            </a:r>
            <a:r>
              <a:rPr lang="zh-CN" altLang="en-US" sz="1000" dirty="0"/>
              <a:t>下电请求</a:t>
            </a:r>
          </a:p>
        </p:txBody>
      </p:sp>
      <p:sp>
        <p:nvSpPr>
          <p:cNvPr id="55" name="内容占位符 2"/>
          <p:cNvSpPr txBox="1"/>
          <p:nvPr/>
        </p:nvSpPr>
        <p:spPr>
          <a:xfrm>
            <a:off x="900774" y="6509480"/>
            <a:ext cx="6082116" cy="29789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开关磁阻、永磁同步、制动电阻无先后顺序，并行执行，可分别独立测试。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内容占位符 2"/>
          <p:cNvSpPr txBox="1"/>
          <p:nvPr/>
        </p:nvSpPr>
        <p:spPr>
          <a:xfrm>
            <a:off x="789698" y="2520915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2" name="内容占位符 2"/>
          <p:cNvSpPr txBox="1"/>
          <p:nvPr/>
        </p:nvSpPr>
        <p:spPr>
          <a:xfrm>
            <a:off x="812709" y="4043700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3" name="内容占位符 2"/>
          <p:cNvSpPr txBox="1"/>
          <p:nvPr/>
        </p:nvSpPr>
        <p:spPr>
          <a:xfrm>
            <a:off x="831894" y="5829708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7021" y="79546"/>
            <a:ext cx="2434479" cy="43844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充电启动流程：</a:t>
            </a:r>
            <a:endParaRPr lang="en-US" altLang="zh-CN" dirty="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796787" y="975750"/>
            <a:ext cx="27849" cy="5633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78332" y="940190"/>
            <a:ext cx="9273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 txBox="1"/>
          <p:nvPr/>
        </p:nvSpPr>
        <p:spPr>
          <a:xfrm>
            <a:off x="146534" y="471270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VCU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2999253" y="408750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BMS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5787418" y="390290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OBC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463937" y="846990"/>
            <a:ext cx="65564" cy="569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/>
          <p:cNvSpPr txBox="1"/>
          <p:nvPr/>
        </p:nvSpPr>
        <p:spPr>
          <a:xfrm>
            <a:off x="-1124198" y="1118434"/>
            <a:ext cx="1013349" cy="334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848059" y="796359"/>
            <a:ext cx="2839546" cy="676418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判断条件：</a:t>
            </a:r>
            <a:endParaRPr lang="en-US" altLang="zh-CN" sz="1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车速、档位、驻车</a:t>
            </a:r>
            <a:endParaRPr lang="en-US" altLang="zh-CN" sz="1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BMS: </a:t>
            </a:r>
            <a:r>
              <a:rPr lang="en-US" altLang="zh-CN" sz="1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SelfCheckStatus</a:t>
            </a:r>
            <a:r>
              <a:rPr lang="zh-CN" altLang="en-US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AlarmLevel</a:t>
            </a:r>
            <a:r>
              <a:rPr lang="zh-CN" altLang="en-US" sz="1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等</a:t>
            </a:r>
            <a:endParaRPr lang="en-US" altLang="zh-CN" sz="1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电量低于</a:t>
            </a:r>
            <a:r>
              <a:rPr lang="en-US" altLang="zh-CN" sz="10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95%</a:t>
            </a:r>
            <a:endParaRPr lang="zh-CN" altLang="en-US" sz="1000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3685183" y="2242544"/>
            <a:ext cx="2824258" cy="19816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2"/>
          <p:cNvSpPr txBox="1"/>
          <p:nvPr/>
        </p:nvSpPr>
        <p:spPr>
          <a:xfrm>
            <a:off x="4223101" y="2101232"/>
            <a:ext cx="1677152" cy="364061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发送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BMS_OBC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开始充电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电流限制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内容占位符 2"/>
          <p:cNvSpPr txBox="1"/>
          <p:nvPr/>
        </p:nvSpPr>
        <p:spPr>
          <a:xfrm>
            <a:off x="6518566" y="2289693"/>
            <a:ext cx="1043513" cy="2186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开始充电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5" name="内容占位符 2"/>
          <p:cNvSpPr txBox="1"/>
          <p:nvPr/>
        </p:nvSpPr>
        <p:spPr>
          <a:xfrm>
            <a:off x="3088772" y="103841"/>
            <a:ext cx="8011028" cy="26857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若车辆未上高压时连接充电开关，则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只管唤醒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，控制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DCDC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上电使能；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BMS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自行通信充电。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8362248" y="956990"/>
            <a:ext cx="73143" cy="558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0912694" y="891424"/>
            <a:ext cx="61691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/>
          <p:cNvSpPr txBox="1"/>
          <p:nvPr/>
        </p:nvSpPr>
        <p:spPr>
          <a:xfrm>
            <a:off x="7722323" y="399416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开关磁阻</a:t>
            </a:r>
          </a:p>
        </p:txBody>
      </p:sp>
      <p:sp>
        <p:nvSpPr>
          <p:cNvPr id="40" name="内容占位符 2"/>
          <p:cNvSpPr txBox="1"/>
          <p:nvPr/>
        </p:nvSpPr>
        <p:spPr>
          <a:xfrm>
            <a:off x="10218614" y="341524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永磁同步</a:t>
            </a:r>
          </a:p>
        </p:txBody>
      </p:sp>
      <p:cxnSp>
        <p:nvCxnSpPr>
          <p:cNvPr id="44" name="直接箭头连接符 43"/>
          <p:cNvCxnSpPr>
            <a:cxnSpLocks/>
          </p:cNvCxnSpPr>
          <p:nvPr/>
        </p:nvCxnSpPr>
        <p:spPr>
          <a:xfrm>
            <a:off x="846684" y="1854416"/>
            <a:ext cx="5662757" cy="20016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内容占位符 2"/>
          <p:cNvSpPr txBox="1"/>
          <p:nvPr/>
        </p:nvSpPr>
        <p:spPr>
          <a:xfrm>
            <a:off x="1408183" y="2639811"/>
            <a:ext cx="1734653" cy="26144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BMS_Charger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3683760" y="2568447"/>
            <a:ext cx="2777247" cy="15003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内容占位符 2"/>
          <p:cNvSpPr txBox="1"/>
          <p:nvPr/>
        </p:nvSpPr>
        <p:spPr>
          <a:xfrm>
            <a:off x="4264908" y="2506546"/>
            <a:ext cx="1858975" cy="32408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OBC_Charger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</p:txBody>
      </p:sp>
      <p:cxnSp>
        <p:nvCxnSpPr>
          <p:cNvPr id="72" name="直接箭头连接符 71"/>
          <p:cNvCxnSpPr/>
          <p:nvPr/>
        </p:nvCxnSpPr>
        <p:spPr>
          <a:xfrm flipH="1">
            <a:off x="784732" y="2771376"/>
            <a:ext cx="2892463" cy="205246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内容占位符 2"/>
          <p:cNvSpPr txBox="1"/>
          <p:nvPr/>
        </p:nvSpPr>
        <p:spPr>
          <a:xfrm>
            <a:off x="800436" y="6235545"/>
            <a:ext cx="8731885" cy="521908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满足充电条件时才唤醒</a:t>
            </a:r>
            <a:r>
              <a:rPr lang="en-US" altLang="zh-CN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；</a:t>
            </a:r>
            <a:endParaRPr lang="en-US" altLang="zh-CN" sz="1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充电过程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不参与，接收到充电按钮充电指令后唤醒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；并在延时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秒闭合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，电流限制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交互。</a:t>
            </a:r>
            <a:endParaRPr lang="en-US" altLang="zh-CN" sz="1000" dirty="0">
              <a:solidFill>
                <a:srgbClr val="00B05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>
            <a:off x="848059" y="4143081"/>
            <a:ext cx="7584839" cy="411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内容占位符 2"/>
          <p:cNvSpPr txBox="1"/>
          <p:nvPr/>
        </p:nvSpPr>
        <p:spPr>
          <a:xfrm>
            <a:off x="6579239" y="4215452"/>
            <a:ext cx="1677152" cy="22506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VCU_DCDC1+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电机使能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796787" y="3053911"/>
            <a:ext cx="7563701" cy="312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内容占位符 2"/>
          <p:cNvSpPr txBox="1"/>
          <p:nvPr/>
        </p:nvSpPr>
        <p:spPr>
          <a:xfrm>
            <a:off x="6659852" y="2851371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Ctrl_HVC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上电指令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93" name="直接箭头连接符 92"/>
          <p:cNvCxnSpPr/>
          <p:nvPr/>
        </p:nvCxnSpPr>
        <p:spPr>
          <a:xfrm flipH="1">
            <a:off x="874374" y="3649177"/>
            <a:ext cx="7458184" cy="192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内容占位符 2"/>
          <p:cNvSpPr txBox="1"/>
          <p:nvPr/>
        </p:nvSpPr>
        <p:spPr>
          <a:xfrm>
            <a:off x="8465081" y="3411268"/>
            <a:ext cx="963497" cy="26857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预充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主正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5" name="内容占位符 2"/>
          <p:cNvSpPr txBox="1"/>
          <p:nvPr/>
        </p:nvSpPr>
        <p:spPr>
          <a:xfrm>
            <a:off x="6264651" y="3415998"/>
            <a:ext cx="2165626" cy="23192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HVC4_RlySt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上电状态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HVC7_HV1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电压等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848059" y="4721682"/>
            <a:ext cx="10101698" cy="36432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内容占位符 2"/>
          <p:cNvSpPr txBox="1"/>
          <p:nvPr/>
        </p:nvSpPr>
        <p:spPr>
          <a:xfrm>
            <a:off x="8777553" y="4651565"/>
            <a:ext cx="2026711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DCDC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继电器请求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810711" y="5275798"/>
            <a:ext cx="10139047" cy="14667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内容占位符 2"/>
          <p:cNvSpPr txBox="1"/>
          <p:nvPr/>
        </p:nvSpPr>
        <p:spPr>
          <a:xfrm>
            <a:off x="8714385" y="5341600"/>
            <a:ext cx="2144094" cy="5285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PDU_RelaySts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ACU1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电压等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801205" y="5767481"/>
            <a:ext cx="10193196" cy="47518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内容占位符 2"/>
          <p:cNvSpPr txBox="1"/>
          <p:nvPr/>
        </p:nvSpPr>
        <p:spPr>
          <a:xfrm>
            <a:off x="9057462" y="5905619"/>
            <a:ext cx="1677152" cy="26537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VCU_DCDC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使能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3" name="内容占位符 2"/>
          <p:cNvSpPr txBox="1"/>
          <p:nvPr/>
        </p:nvSpPr>
        <p:spPr>
          <a:xfrm>
            <a:off x="796787" y="3925130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检测上电完成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4" name="内容占位符 2"/>
          <p:cNvSpPr txBox="1"/>
          <p:nvPr/>
        </p:nvSpPr>
        <p:spPr>
          <a:xfrm>
            <a:off x="827609" y="5459815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检测上电完成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2" name="内容占位符 2"/>
          <p:cNvSpPr txBox="1"/>
          <p:nvPr/>
        </p:nvSpPr>
        <p:spPr>
          <a:xfrm>
            <a:off x="10983510" y="5040131"/>
            <a:ext cx="963497" cy="26857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DCDC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8" name="内容占位符 2"/>
          <p:cNvSpPr txBox="1"/>
          <p:nvPr/>
        </p:nvSpPr>
        <p:spPr>
          <a:xfrm>
            <a:off x="1597094" y="1591747"/>
            <a:ext cx="1734653" cy="26144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唤醒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（默认不唤醒）</a:t>
            </a:r>
            <a:endParaRPr lang="en-US" altLang="zh-CN" sz="1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2225E3B-337C-49EC-A90B-25060C181197}"/>
              </a:ext>
            </a:extLst>
          </p:cNvPr>
          <p:cNvSpPr txBox="1"/>
          <p:nvPr/>
        </p:nvSpPr>
        <p:spPr>
          <a:xfrm>
            <a:off x="8512118" y="4287749"/>
            <a:ext cx="2724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两套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只一套工作即可；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493" y="126790"/>
            <a:ext cx="2487247" cy="43844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充满电停止流程：</a:t>
            </a:r>
            <a:endParaRPr lang="en-US" altLang="zh-CN" dirty="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878481" y="1036699"/>
            <a:ext cx="27849" cy="5633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760026" y="1001139"/>
            <a:ext cx="9273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 txBox="1"/>
          <p:nvPr/>
        </p:nvSpPr>
        <p:spPr>
          <a:xfrm>
            <a:off x="228228" y="53221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VCU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3080947" y="46969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BMS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5869112" y="45123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OBC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545631" y="907939"/>
            <a:ext cx="65564" cy="569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470917" y="799994"/>
            <a:ext cx="73143" cy="558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9933783" y="1001139"/>
            <a:ext cx="61691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/>
          <p:cNvSpPr txBox="1"/>
          <p:nvPr/>
        </p:nvSpPr>
        <p:spPr>
          <a:xfrm>
            <a:off x="7804017" y="460365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开关磁阻</a:t>
            </a:r>
          </a:p>
        </p:txBody>
      </p:sp>
      <p:sp>
        <p:nvSpPr>
          <p:cNvPr id="40" name="内容占位符 2"/>
          <p:cNvSpPr txBox="1"/>
          <p:nvPr/>
        </p:nvSpPr>
        <p:spPr>
          <a:xfrm>
            <a:off x="9239703" y="45123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永磁同步</a:t>
            </a:r>
          </a:p>
        </p:txBody>
      </p:sp>
      <p:sp>
        <p:nvSpPr>
          <p:cNvPr id="45" name="内容占位符 2"/>
          <p:cNvSpPr txBox="1"/>
          <p:nvPr/>
        </p:nvSpPr>
        <p:spPr>
          <a:xfrm>
            <a:off x="8483775" y="3148601"/>
            <a:ext cx="1352479" cy="28676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继电器操作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939999" y="2661584"/>
            <a:ext cx="7552994" cy="455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内容占位符 2"/>
          <p:cNvSpPr txBox="1"/>
          <p:nvPr/>
        </p:nvSpPr>
        <p:spPr>
          <a:xfrm>
            <a:off x="6765952" y="2847638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Ctrl_HVC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H="1">
            <a:off x="932263" y="3402469"/>
            <a:ext cx="7563023" cy="433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内容占位符 2"/>
          <p:cNvSpPr txBox="1"/>
          <p:nvPr/>
        </p:nvSpPr>
        <p:spPr>
          <a:xfrm>
            <a:off x="6694208" y="3144209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HVC4_RlySt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882000" y="4442857"/>
            <a:ext cx="9007329" cy="53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/>
          <p:cNvSpPr txBox="1"/>
          <p:nvPr/>
        </p:nvSpPr>
        <p:spPr>
          <a:xfrm>
            <a:off x="8321438" y="4701618"/>
            <a:ext cx="1677152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下电继电器指令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860792" y="5189751"/>
            <a:ext cx="9049743" cy="556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内容占位符 2"/>
          <p:cNvSpPr txBox="1"/>
          <p:nvPr/>
        </p:nvSpPr>
        <p:spPr>
          <a:xfrm>
            <a:off x="8308152" y="5250428"/>
            <a:ext cx="1677152" cy="39905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PDU_RelaySts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895924" y="4270177"/>
            <a:ext cx="9000165" cy="4981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内容占位符 2"/>
          <p:cNvSpPr txBox="1"/>
          <p:nvPr/>
        </p:nvSpPr>
        <p:spPr>
          <a:xfrm>
            <a:off x="8353411" y="4402862"/>
            <a:ext cx="1677152" cy="2635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VCU_ACU1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关闭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885037" y="2423262"/>
            <a:ext cx="7583756" cy="3942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/>
          <p:cNvSpPr txBox="1"/>
          <p:nvPr/>
        </p:nvSpPr>
        <p:spPr>
          <a:xfrm>
            <a:off x="6691005" y="2454464"/>
            <a:ext cx="1677152" cy="27947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VCU_DCDC1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关闭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6" name="内容占位符 2"/>
          <p:cNvSpPr txBox="1"/>
          <p:nvPr/>
        </p:nvSpPr>
        <p:spPr>
          <a:xfrm>
            <a:off x="3088772" y="103841"/>
            <a:ext cx="5769478" cy="3056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充满电或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BMS-OBC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异常中止充电时，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关闭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DCDC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；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BMS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自行通信下电。</a:t>
            </a:r>
          </a:p>
        </p:txBody>
      </p:sp>
      <p:sp>
        <p:nvSpPr>
          <p:cNvPr id="69" name="内容占位符 2"/>
          <p:cNvSpPr txBox="1"/>
          <p:nvPr/>
        </p:nvSpPr>
        <p:spPr>
          <a:xfrm>
            <a:off x="9929157" y="4980483"/>
            <a:ext cx="1352479" cy="28676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继电器操作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0" name="内容占位符 2"/>
          <p:cNvSpPr txBox="1"/>
          <p:nvPr/>
        </p:nvSpPr>
        <p:spPr>
          <a:xfrm>
            <a:off x="882000" y="3868534"/>
            <a:ext cx="1824089" cy="2614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3" name="内容占位符 2"/>
          <p:cNvSpPr txBox="1"/>
          <p:nvPr/>
        </p:nvSpPr>
        <p:spPr>
          <a:xfrm>
            <a:off x="869725" y="5726341"/>
            <a:ext cx="1824089" cy="2614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4" name="内容占位符 2"/>
          <p:cNvSpPr txBox="1"/>
          <p:nvPr/>
        </p:nvSpPr>
        <p:spPr>
          <a:xfrm>
            <a:off x="876444" y="6340317"/>
            <a:ext cx="6661005" cy="49751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不需要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参与，充满电后断开</a:t>
            </a:r>
            <a:r>
              <a:rPr lang="en-US" altLang="zh-CN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000" dirty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en-US" altLang="zh-CN" sz="1000" dirty="0">
              <a:solidFill>
                <a:srgbClr val="00B05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若充满电或异常，则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会向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发送停止请求；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检测到充电停止报文，则关闭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；</a:t>
            </a:r>
            <a:endParaRPr lang="zh-CN" altLang="en-US" sz="1000" dirty="0">
              <a:solidFill>
                <a:srgbClr val="00B05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44D5917-43F9-4806-9AF4-E9ACE56C65EB}"/>
              </a:ext>
            </a:extLst>
          </p:cNvPr>
          <p:cNvCxnSpPr/>
          <p:nvPr/>
        </p:nvCxnSpPr>
        <p:spPr>
          <a:xfrm>
            <a:off x="3773982" y="1161986"/>
            <a:ext cx="2824258" cy="19816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内容占位符 2">
            <a:extLst>
              <a:ext uri="{FF2B5EF4-FFF2-40B4-BE49-F238E27FC236}">
                <a16:creationId xmlns:a16="http://schemas.microsoft.com/office/drawing/2014/main" id="{22268335-2ED5-4A77-8FE3-9A74C2666133}"/>
              </a:ext>
            </a:extLst>
          </p:cNvPr>
          <p:cNvSpPr txBox="1"/>
          <p:nvPr/>
        </p:nvSpPr>
        <p:spPr>
          <a:xfrm>
            <a:off x="4528873" y="930732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发送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BMS_OBC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停止充电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9" name="内容占位符 2">
            <a:extLst>
              <a:ext uri="{FF2B5EF4-FFF2-40B4-BE49-F238E27FC236}">
                <a16:creationId xmlns:a16="http://schemas.microsoft.com/office/drawing/2014/main" id="{8E651F7C-7090-4AB9-B594-52B3494AA8F0}"/>
              </a:ext>
            </a:extLst>
          </p:cNvPr>
          <p:cNvSpPr txBox="1"/>
          <p:nvPr/>
        </p:nvSpPr>
        <p:spPr>
          <a:xfrm>
            <a:off x="6626948" y="1279424"/>
            <a:ext cx="1043513" cy="2186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停止充电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E7AE748E-D9FD-4047-8A68-1CAD065C7ABF}"/>
              </a:ext>
            </a:extLst>
          </p:cNvPr>
          <p:cNvSpPr txBox="1"/>
          <p:nvPr/>
        </p:nvSpPr>
        <p:spPr>
          <a:xfrm>
            <a:off x="1436082" y="1611714"/>
            <a:ext cx="1677152" cy="2542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BMS_Charger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ED421C4-792E-4DF0-AE55-96C0BE4E5B81}"/>
              </a:ext>
            </a:extLst>
          </p:cNvPr>
          <p:cNvCxnSpPr/>
          <p:nvPr/>
        </p:nvCxnSpPr>
        <p:spPr>
          <a:xfrm flipH="1">
            <a:off x="3744166" y="1444744"/>
            <a:ext cx="2798707" cy="22935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内容占位符 2">
            <a:extLst>
              <a:ext uri="{FF2B5EF4-FFF2-40B4-BE49-F238E27FC236}">
                <a16:creationId xmlns:a16="http://schemas.microsoft.com/office/drawing/2014/main" id="{093BBC0F-B8C1-4E9B-AD0E-C31946E0C118}"/>
              </a:ext>
            </a:extLst>
          </p:cNvPr>
          <p:cNvSpPr txBox="1"/>
          <p:nvPr/>
        </p:nvSpPr>
        <p:spPr>
          <a:xfrm>
            <a:off x="4325315" y="1462172"/>
            <a:ext cx="1858975" cy="32408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OBC_Charger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35957E9-CB90-4261-8931-32418A0F17EB}"/>
              </a:ext>
            </a:extLst>
          </p:cNvPr>
          <p:cNvCxnSpPr/>
          <p:nvPr/>
        </p:nvCxnSpPr>
        <p:spPr>
          <a:xfrm flipH="1">
            <a:off x="881444" y="1715821"/>
            <a:ext cx="2878920" cy="209972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E99A93B9-5D69-4790-BFE6-9767F987142A}"/>
              </a:ext>
            </a:extLst>
          </p:cNvPr>
          <p:cNvSpPr txBox="1"/>
          <p:nvPr/>
        </p:nvSpPr>
        <p:spPr>
          <a:xfrm>
            <a:off x="8025158" y="3795692"/>
            <a:ext cx="2724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两套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只一套工作即可；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493" y="126790"/>
            <a:ext cx="2487247" cy="438440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断开充电连接流程：</a:t>
            </a:r>
            <a:endParaRPr lang="en-US" altLang="zh-CN" dirty="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878481" y="1036699"/>
            <a:ext cx="27849" cy="5633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760026" y="1001139"/>
            <a:ext cx="9273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 txBox="1"/>
          <p:nvPr/>
        </p:nvSpPr>
        <p:spPr>
          <a:xfrm>
            <a:off x="228228" y="53221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VCU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3080947" y="46969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BMS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5869112" y="45123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latin typeface="宋体" pitchFamily="2" charset="-122"/>
                <a:ea typeface="宋体" pitchFamily="2" charset="-122"/>
              </a:rPr>
              <a:t>OBC</a:t>
            </a:r>
            <a:endParaRPr lang="zh-CN" altLang="en-US" sz="10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545631" y="907939"/>
            <a:ext cx="65564" cy="569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470917" y="799994"/>
            <a:ext cx="73143" cy="558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9933783" y="1001139"/>
            <a:ext cx="61691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/>
          <p:cNvSpPr txBox="1"/>
          <p:nvPr/>
        </p:nvSpPr>
        <p:spPr>
          <a:xfrm>
            <a:off x="7804017" y="460365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开关磁阻</a:t>
            </a:r>
          </a:p>
        </p:txBody>
      </p:sp>
      <p:sp>
        <p:nvSpPr>
          <p:cNvPr id="40" name="内容占位符 2"/>
          <p:cNvSpPr txBox="1"/>
          <p:nvPr/>
        </p:nvSpPr>
        <p:spPr>
          <a:xfrm>
            <a:off x="9239703" y="45123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latin typeface="宋体" pitchFamily="2" charset="-122"/>
                <a:ea typeface="宋体" pitchFamily="2" charset="-122"/>
              </a:rPr>
              <a:t>永磁同步</a:t>
            </a:r>
          </a:p>
        </p:txBody>
      </p:sp>
      <p:sp>
        <p:nvSpPr>
          <p:cNvPr id="45" name="内容占位符 2"/>
          <p:cNvSpPr txBox="1"/>
          <p:nvPr/>
        </p:nvSpPr>
        <p:spPr>
          <a:xfrm>
            <a:off x="8485899" y="3262814"/>
            <a:ext cx="1352479" cy="28676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继电器操作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942123" y="2775797"/>
            <a:ext cx="7552994" cy="455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内容占位符 2"/>
          <p:cNvSpPr txBox="1"/>
          <p:nvPr/>
        </p:nvSpPr>
        <p:spPr>
          <a:xfrm>
            <a:off x="6768076" y="2961851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Ctrl_HVC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H="1">
            <a:off x="934387" y="3516682"/>
            <a:ext cx="7563023" cy="433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内容占位符 2"/>
          <p:cNvSpPr txBox="1"/>
          <p:nvPr/>
        </p:nvSpPr>
        <p:spPr>
          <a:xfrm>
            <a:off x="6696332" y="3258422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HVC4_RlySt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884124" y="4557070"/>
            <a:ext cx="9007329" cy="53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/>
          <p:cNvSpPr txBox="1"/>
          <p:nvPr/>
        </p:nvSpPr>
        <p:spPr>
          <a:xfrm>
            <a:off x="8323562" y="4815831"/>
            <a:ext cx="1677152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下电继电器指令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862916" y="5303964"/>
            <a:ext cx="9049743" cy="556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内容占位符 2"/>
          <p:cNvSpPr txBox="1"/>
          <p:nvPr/>
        </p:nvSpPr>
        <p:spPr>
          <a:xfrm>
            <a:off x="8310276" y="5364641"/>
            <a:ext cx="1677152" cy="39905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PDU_RelaySts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继电器状态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898048" y="4384390"/>
            <a:ext cx="9000165" cy="4981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内容占位符 2"/>
          <p:cNvSpPr txBox="1"/>
          <p:nvPr/>
        </p:nvSpPr>
        <p:spPr>
          <a:xfrm>
            <a:off x="8355535" y="4517075"/>
            <a:ext cx="1677152" cy="2635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VCU_ACU1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关闭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887161" y="2537475"/>
            <a:ext cx="7583756" cy="3942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/>
          <p:cNvSpPr txBox="1"/>
          <p:nvPr/>
        </p:nvSpPr>
        <p:spPr>
          <a:xfrm>
            <a:off x="6693129" y="2568677"/>
            <a:ext cx="1677152" cy="27947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VCU_DCDC1</a:t>
            </a: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关闭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6" name="内容占位符 2"/>
          <p:cNvSpPr txBox="1"/>
          <p:nvPr/>
        </p:nvSpPr>
        <p:spPr>
          <a:xfrm>
            <a:off x="3088772" y="103841"/>
            <a:ext cx="5852028" cy="35407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检测到断开充电开关时，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关闭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使能，强制充电中止，而后关闭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DCDC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69" name="内容占位符 2"/>
          <p:cNvSpPr txBox="1"/>
          <p:nvPr/>
        </p:nvSpPr>
        <p:spPr>
          <a:xfrm>
            <a:off x="9931281" y="5094696"/>
            <a:ext cx="1352479" cy="28676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继电器操作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0" name="内容占位符 2"/>
          <p:cNvSpPr txBox="1"/>
          <p:nvPr/>
        </p:nvSpPr>
        <p:spPr>
          <a:xfrm>
            <a:off x="884124" y="3982747"/>
            <a:ext cx="1824089" cy="2614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3" name="内容占位符 2"/>
          <p:cNvSpPr txBox="1"/>
          <p:nvPr/>
        </p:nvSpPr>
        <p:spPr>
          <a:xfrm>
            <a:off x="871849" y="5840554"/>
            <a:ext cx="1824089" cy="2614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检测下电完成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4" name="内容占位符 2"/>
          <p:cNvSpPr txBox="1"/>
          <p:nvPr/>
        </p:nvSpPr>
        <p:spPr>
          <a:xfrm>
            <a:off x="876444" y="6340317"/>
            <a:ext cx="10064605" cy="49751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不知道充电连接信号，没法发送停止充电请求；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作为应答端，无法主动执行停止充电流程；</a:t>
            </a:r>
            <a:endParaRPr lang="en-US" altLang="zh-CN" sz="10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所以，若是断开充电连接，是不是要让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断开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使能，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也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通信断开，强制退出充电？还是有其他更合理流程？</a:t>
            </a:r>
            <a:endParaRPr lang="zh-CN" altLang="en-US" sz="1000" dirty="0">
              <a:solidFill>
                <a:srgbClr val="00B05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0467EDB-AE2F-4661-9644-217F52D0DEA1}"/>
              </a:ext>
            </a:extLst>
          </p:cNvPr>
          <p:cNvCxnSpPr/>
          <p:nvPr/>
        </p:nvCxnSpPr>
        <p:spPr>
          <a:xfrm>
            <a:off x="3784773" y="1492155"/>
            <a:ext cx="2824258" cy="198166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内容占位符 2">
            <a:extLst>
              <a:ext uri="{FF2B5EF4-FFF2-40B4-BE49-F238E27FC236}">
                <a16:creationId xmlns:a16="http://schemas.microsoft.com/office/drawing/2014/main" id="{8084A1B7-E5E9-4187-8F4B-EB16B1AA08BA}"/>
              </a:ext>
            </a:extLst>
          </p:cNvPr>
          <p:cNvSpPr txBox="1"/>
          <p:nvPr/>
        </p:nvSpPr>
        <p:spPr>
          <a:xfrm>
            <a:off x="4398501" y="1210428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发送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BMS_OBC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停止充电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4" name="内容占位符 2">
            <a:extLst>
              <a:ext uri="{FF2B5EF4-FFF2-40B4-BE49-F238E27FC236}">
                <a16:creationId xmlns:a16="http://schemas.microsoft.com/office/drawing/2014/main" id="{9324DE96-804D-4E24-BBE3-6352538BFF61}"/>
              </a:ext>
            </a:extLst>
          </p:cNvPr>
          <p:cNvSpPr txBox="1"/>
          <p:nvPr/>
        </p:nvSpPr>
        <p:spPr>
          <a:xfrm>
            <a:off x="6651097" y="1617786"/>
            <a:ext cx="1043513" cy="2186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dirty="0">
                <a:latin typeface="宋体" pitchFamily="2" charset="-122"/>
                <a:ea typeface="宋体" pitchFamily="2" charset="-122"/>
              </a:rPr>
              <a:t>停止充电</a:t>
            </a:r>
            <a:endParaRPr lang="en-US" altLang="zh-CN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1" name="内容占位符 2">
            <a:extLst>
              <a:ext uri="{FF2B5EF4-FFF2-40B4-BE49-F238E27FC236}">
                <a16:creationId xmlns:a16="http://schemas.microsoft.com/office/drawing/2014/main" id="{FA36A97C-E1F0-4C9B-A022-BE7E34BF1695}"/>
              </a:ext>
            </a:extLst>
          </p:cNvPr>
          <p:cNvSpPr txBox="1"/>
          <p:nvPr/>
        </p:nvSpPr>
        <p:spPr>
          <a:xfrm>
            <a:off x="1446873" y="1941883"/>
            <a:ext cx="1677152" cy="2542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BMS_Charger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17488C2-40F2-4AD8-B086-C10161F97CB9}"/>
              </a:ext>
            </a:extLst>
          </p:cNvPr>
          <p:cNvCxnSpPr/>
          <p:nvPr/>
        </p:nvCxnSpPr>
        <p:spPr>
          <a:xfrm flipH="1">
            <a:off x="3754957" y="1774913"/>
            <a:ext cx="2798707" cy="229359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内容占位符 2">
            <a:extLst>
              <a:ext uri="{FF2B5EF4-FFF2-40B4-BE49-F238E27FC236}">
                <a16:creationId xmlns:a16="http://schemas.microsoft.com/office/drawing/2014/main" id="{F40B2C32-C02C-4A73-BAAC-63FEE65E03E3}"/>
              </a:ext>
            </a:extLst>
          </p:cNvPr>
          <p:cNvSpPr txBox="1"/>
          <p:nvPr/>
        </p:nvSpPr>
        <p:spPr>
          <a:xfrm>
            <a:off x="4336106" y="1792341"/>
            <a:ext cx="1858975" cy="32408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000" dirty="0" err="1">
                <a:latin typeface="宋体" pitchFamily="2" charset="-122"/>
                <a:ea typeface="宋体" pitchFamily="2" charset="-122"/>
              </a:rPr>
              <a:t>OBC_Charger</a:t>
            </a:r>
            <a:r>
              <a:rPr lang="en-US" altLang="zh-CN" sz="1000" dirty="0">
                <a:latin typeface="宋体" pitchFamily="2" charset="-122"/>
                <a:ea typeface="宋体" pitchFamily="2" charset="-122"/>
              </a:rPr>
              <a:t> Status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458278E-9B4C-4345-9282-581E141F376F}"/>
              </a:ext>
            </a:extLst>
          </p:cNvPr>
          <p:cNvCxnSpPr/>
          <p:nvPr/>
        </p:nvCxnSpPr>
        <p:spPr>
          <a:xfrm flipH="1">
            <a:off x="892235" y="2045990"/>
            <a:ext cx="2878920" cy="20997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B0DA333-0737-46AE-A4BB-E2751AA5FB57}"/>
              </a:ext>
            </a:extLst>
          </p:cNvPr>
          <p:cNvCxnSpPr>
            <a:cxnSpLocks/>
          </p:cNvCxnSpPr>
          <p:nvPr/>
        </p:nvCxnSpPr>
        <p:spPr>
          <a:xfrm>
            <a:off x="906330" y="1124732"/>
            <a:ext cx="5662757" cy="20016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内容占位符 2">
            <a:extLst>
              <a:ext uri="{FF2B5EF4-FFF2-40B4-BE49-F238E27FC236}">
                <a16:creationId xmlns:a16="http://schemas.microsoft.com/office/drawing/2014/main" id="{48F1B3D4-E693-4209-97D7-DD48852D22B9}"/>
              </a:ext>
            </a:extLst>
          </p:cNvPr>
          <p:cNvSpPr txBox="1"/>
          <p:nvPr/>
        </p:nvSpPr>
        <p:spPr>
          <a:xfrm>
            <a:off x="1656740" y="862063"/>
            <a:ext cx="1734653" cy="26144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关闭</a:t>
            </a: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唤醒</a:t>
            </a:r>
            <a:endParaRPr lang="en-US" altLang="zh-CN" sz="1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66FFAFD-D564-4165-A6CF-AA0483B2D851}"/>
              </a:ext>
            </a:extLst>
          </p:cNvPr>
          <p:cNvSpPr txBox="1"/>
          <p:nvPr/>
        </p:nvSpPr>
        <p:spPr>
          <a:xfrm>
            <a:off x="8025158" y="3795692"/>
            <a:ext cx="2724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两套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只一套工作即可；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9309ADA-7789-4649-8CE1-AA53BDE7D95D}"/>
              </a:ext>
            </a:extLst>
          </p:cNvPr>
          <p:cNvSpPr txBox="1"/>
          <p:nvPr/>
        </p:nvSpPr>
        <p:spPr>
          <a:xfrm>
            <a:off x="7694610" y="1554828"/>
            <a:ext cx="2998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BMS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如何实现充电断开流程？</a:t>
            </a:r>
          </a:p>
        </p:txBody>
      </p:sp>
    </p:spTree>
    <p:extLst>
      <p:ext uri="{BB962C8B-B14F-4D97-AF65-F5344CB8AC3E}">
        <p14:creationId xmlns:p14="http://schemas.microsoft.com/office/powerpoint/2010/main" val="2139393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925</Words>
  <Application>Microsoft Office PowerPoint</Application>
  <PresentationFormat>宽屏</PresentationFormat>
  <Paragraphs>200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后华 井</dc:creator>
  <cp:lastModifiedBy>后华 井</cp:lastModifiedBy>
  <cp:revision>22</cp:revision>
  <dcterms:created xsi:type="dcterms:W3CDTF">2026-09-28T05:39:01Z</dcterms:created>
  <dcterms:modified xsi:type="dcterms:W3CDTF">2026-09-28T12:26:06Z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465C422DC93071F675FDB96A72B6AD50_43</vt:lpwstr>
  </property>
</Properties>
</file>