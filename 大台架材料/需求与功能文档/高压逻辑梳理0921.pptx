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1" r:id="rId2"/>
    <p:sldId id="276" r:id="rId3"/>
    <p:sldId id="277" r:id="rId4"/>
    <p:sldId id="282" r:id="rId5"/>
    <p:sldId id="27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50" d="100"/>
          <a:sy n="50" d="100"/>
        </p:scale>
        <p:origin x="124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C1F3F-FCDD-48D9-9B7D-7862C5A34666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9AA56-6C2C-43D4-824B-369331768A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03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5A32F1-781C-440D-A8C0-D255897E9AA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742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874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932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371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569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979FC-594D-488A-9873-DF8D82816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413D2D-B01A-438B-A024-91112AA28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CC03F6-9970-4D1B-B2D7-A2046B5E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E0D4FC-9161-4015-9A43-D611E330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0A0EDF-1883-416E-82B9-FB64896F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49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DEFE8-1790-44D6-9E40-17F179E4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931A8-CD73-41B5-8806-E62DA9FEC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7A32B2-A477-4D81-8B2F-CBA84BC9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07E2A-D501-49E2-9DAC-9F9AE82E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F97F1F-F651-4D74-AE5E-F45571EF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87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527A1-98F8-4417-BD37-34E87BBA6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0D5E7-B67F-49B0-8043-118CD387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8F148D-46C1-4537-8340-03ED592C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071A1-92F8-454F-80B0-C8EF3FC4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95C344-EBC0-4BEE-A80F-8AF9C785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60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1BEBB-6E3D-4F55-8CB0-2E003C46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198C10-2B0F-455B-9966-C07ADE8E3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19A3E2-C8E6-4440-AF11-8E26FF99F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1B2916-825C-4DD4-A05E-5BB186790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58F70B-5A99-485B-812E-A26A7442A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154D50-9527-4278-84B3-E9293252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63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7ABDE-ED97-4FE0-B7FF-93030351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0C051D-C943-4A23-A9BE-2CC57795D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5BBB3A-71B5-440D-8CBD-01BEBD481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A13B5C-610B-4A3B-A92D-27D4CF0BC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57DF42-43B6-4BD1-93A9-4EB27A27C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8B6E38-590E-46E9-9446-A1AB0A04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43E152-279A-4A8F-B598-7C8D7AAD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52B257-F335-4C25-9A87-B63B540D4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45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446D7-41F2-4F03-92A8-73623AE8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FF5AB0-B6DB-4BD0-8C63-0F8F5FA8E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4A8944-C461-4A74-A184-906D6EE6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3A297E-BDA3-431E-A83F-0AD121A0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98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988A10-B1FB-4F62-938A-7F428594C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F172BD-AF82-44A1-87DA-07E8CE79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77960E-16CA-4564-9CC9-6363BB0B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36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9C36DC-68CA-4755-8D9C-75DDBA2FB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FCCA08-DF6D-41BD-B1B6-E53CB875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110784-47A9-44E9-82B4-5E652FBDB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326259-F8DC-4A99-B9D4-C4D5FD65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7712A9-45A9-470C-B1D3-BFF479C55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0A95D9-1B3F-4951-A4B9-B3221790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565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D1304-C7C2-45F5-9904-2C231B06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696766-69C0-4C67-8D47-8DEE26328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6DE048-FF91-4C54-8E24-85531079B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8758C7-1436-4A40-98F8-F7A99AFF6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1B7676-8B0D-43E3-B9CD-F7A84216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409D07-DD79-4C3F-B581-D32D42C2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805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57286-0188-43A6-8DCC-946BE3E0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12C544-46BC-42E8-9D35-DE28A344A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5D026-1994-4046-898C-C5B1E145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D42C93-1B1C-4F04-AB71-E1D8CB82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E1D75-DB30-4254-9D64-7D9A6B77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13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EF341D-D670-4887-98F8-C8998731D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5CE871-D687-4102-A41C-A1489C188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FD4682-5386-49E6-AD48-CD1C42D0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A272F-B804-4EFE-AFA1-133F6039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80C9C0-17F2-40BF-A4C8-3DA53E8E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821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71C8E4-F98C-4568-8C18-85DFA4CB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85DAA9-A9F5-45EB-8A67-5FE1A3340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4D0759-2CF7-4760-B355-FBFA96415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968D9-9383-4D83-89C1-D3C9E1BBA303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85A6E-7570-442E-8DA1-BAB293ABD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74626-DADB-4B5A-823E-96E242061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E89D2-FB6D-4FBE-89F0-EE3390BF45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43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B3C17E-F4BD-48BA-B276-BC4002FD45E7}"/>
              </a:ext>
            </a:extLst>
          </p:cNvPr>
          <p:cNvSpPr/>
          <p:nvPr/>
        </p:nvSpPr>
        <p:spPr>
          <a:xfrm>
            <a:off x="4630509" y="1502284"/>
            <a:ext cx="1239714" cy="6961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BMS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8D3EA2-D21D-4287-A7CB-C148A0EBC270}"/>
              </a:ext>
            </a:extLst>
          </p:cNvPr>
          <p:cNvSpPr/>
          <p:nvPr/>
        </p:nvSpPr>
        <p:spPr>
          <a:xfrm>
            <a:off x="711202" y="84689"/>
            <a:ext cx="1882906" cy="67110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BE99FB-5A66-402E-9EB0-0A25EAD783EA}"/>
              </a:ext>
            </a:extLst>
          </p:cNvPr>
          <p:cNvSpPr/>
          <p:nvPr/>
        </p:nvSpPr>
        <p:spPr>
          <a:xfrm>
            <a:off x="4639335" y="3513325"/>
            <a:ext cx="1239714" cy="842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开关磁阻</a:t>
            </a:r>
            <a:endParaRPr lang="en-US" altLang="zh-CN" sz="1600" dirty="0"/>
          </a:p>
          <a:p>
            <a:pPr algn="ctr"/>
            <a:r>
              <a:rPr lang="zh-CN" altLang="en-US" sz="1600" dirty="0"/>
              <a:t>多合一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58ACC2-D96C-4E2E-A0BA-9EEE50299B5E}"/>
              </a:ext>
            </a:extLst>
          </p:cNvPr>
          <p:cNvSpPr/>
          <p:nvPr/>
        </p:nvSpPr>
        <p:spPr>
          <a:xfrm>
            <a:off x="4627069" y="4415875"/>
            <a:ext cx="1243154" cy="802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永磁同步</a:t>
            </a:r>
            <a:endParaRPr lang="en-US" altLang="zh-CN" sz="1600" dirty="0"/>
          </a:p>
          <a:p>
            <a:pPr algn="ctr"/>
            <a:r>
              <a:rPr lang="zh-CN" altLang="en-US" sz="1600" dirty="0"/>
              <a:t>多合一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740BC73-790E-4431-896D-393107994341}"/>
              </a:ext>
            </a:extLst>
          </p:cNvPr>
          <p:cNvGrpSpPr/>
          <p:nvPr/>
        </p:nvGrpSpPr>
        <p:grpSpPr>
          <a:xfrm>
            <a:off x="3533779" y="1864978"/>
            <a:ext cx="1093290" cy="185794"/>
            <a:chOff x="2046410" y="1503486"/>
            <a:chExt cx="1451831" cy="167056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68F6B63-1B6C-4D37-95D7-3F41941DB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87965A2-59BE-4C70-8B7A-30994BFD1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E98195F-B5A4-4B2E-B8E1-5BED1111E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EC7920DC-22C3-4CB8-B561-D47FB3E9CE2B}"/>
              </a:ext>
            </a:extLst>
          </p:cNvPr>
          <p:cNvSpPr txBox="1"/>
          <p:nvPr/>
        </p:nvSpPr>
        <p:spPr>
          <a:xfrm>
            <a:off x="759502" y="136428"/>
            <a:ext cx="634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BDU</a:t>
            </a:r>
            <a:endParaRPr lang="zh-CN" altLang="en-US" dirty="0"/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9FABF82-72D3-4A87-8FC2-F673BC0F5FD8}"/>
              </a:ext>
            </a:extLst>
          </p:cNvPr>
          <p:cNvGrpSpPr/>
          <p:nvPr/>
        </p:nvGrpSpPr>
        <p:grpSpPr>
          <a:xfrm>
            <a:off x="3187504" y="3479560"/>
            <a:ext cx="1451831" cy="167056"/>
            <a:chOff x="2046410" y="1503486"/>
            <a:chExt cx="1451831" cy="167056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F6A74248-4570-43A8-B520-A72163954F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76B307FA-A7BB-494D-B896-9DEB6D2E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D4508968-D7C5-44D7-ACB5-1EF6F91474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4064AC83-1EB0-468F-8E3F-21E084E952B9}"/>
              </a:ext>
            </a:extLst>
          </p:cNvPr>
          <p:cNvGrpSpPr/>
          <p:nvPr/>
        </p:nvGrpSpPr>
        <p:grpSpPr>
          <a:xfrm>
            <a:off x="3187504" y="3787291"/>
            <a:ext cx="1451831" cy="167056"/>
            <a:chOff x="2046410" y="1503486"/>
            <a:chExt cx="1451831" cy="167056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605C2618-2011-4331-82C3-894EDC965C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9864041B-79A2-4C62-99DB-0B3E9EE5F9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49FE507E-EB98-498E-89D6-DAB0A573D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矩形 80">
            <a:extLst>
              <a:ext uri="{FF2B5EF4-FFF2-40B4-BE49-F238E27FC236}">
                <a16:creationId xmlns:a16="http://schemas.microsoft.com/office/drawing/2014/main" id="{5BA74FA6-8BE6-44A3-BF9C-E6A665E430C9}"/>
              </a:ext>
            </a:extLst>
          </p:cNvPr>
          <p:cNvSpPr/>
          <p:nvPr/>
        </p:nvSpPr>
        <p:spPr>
          <a:xfrm>
            <a:off x="4081013" y="3866376"/>
            <a:ext cx="297293" cy="15609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D3BF110B-0DB6-4168-B4C8-B32EEEB111E3}"/>
              </a:ext>
            </a:extLst>
          </p:cNvPr>
          <p:cNvCxnSpPr>
            <a:cxnSpLocks/>
          </p:cNvCxnSpPr>
          <p:nvPr/>
        </p:nvCxnSpPr>
        <p:spPr>
          <a:xfrm>
            <a:off x="2004214" y="1673004"/>
            <a:ext cx="2640723" cy="147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40AAFB2F-44EB-4FA0-BBFF-4934FEB3EF27}"/>
              </a:ext>
            </a:extLst>
          </p:cNvPr>
          <p:cNvCxnSpPr>
            <a:cxnSpLocks/>
          </p:cNvCxnSpPr>
          <p:nvPr/>
        </p:nvCxnSpPr>
        <p:spPr>
          <a:xfrm>
            <a:off x="1607638" y="4262076"/>
            <a:ext cx="304239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482F93E0-9AF9-4F59-871A-97B9D0C9C6EA}"/>
              </a:ext>
            </a:extLst>
          </p:cNvPr>
          <p:cNvCxnSpPr>
            <a:cxnSpLocks/>
          </p:cNvCxnSpPr>
          <p:nvPr/>
        </p:nvCxnSpPr>
        <p:spPr>
          <a:xfrm>
            <a:off x="3205088" y="3646614"/>
            <a:ext cx="0" cy="2989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E0042175-AA6D-429C-87FE-7D45535B02A2}"/>
              </a:ext>
            </a:extLst>
          </p:cNvPr>
          <p:cNvGrpSpPr/>
          <p:nvPr/>
        </p:nvGrpSpPr>
        <p:grpSpPr>
          <a:xfrm>
            <a:off x="3176806" y="4342765"/>
            <a:ext cx="1451831" cy="167056"/>
            <a:chOff x="2046410" y="1503486"/>
            <a:chExt cx="1451831" cy="167056"/>
          </a:xfrm>
        </p:grpSpPr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4DE00819-9787-464F-A568-61A2879AC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3F4B63F-20DC-4882-8456-D4105262CB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22335F46-AD1F-47BA-9C12-513B37173F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D48ACECE-369D-4276-8E38-C8A5B49498CB}"/>
              </a:ext>
            </a:extLst>
          </p:cNvPr>
          <p:cNvGrpSpPr/>
          <p:nvPr/>
        </p:nvGrpSpPr>
        <p:grpSpPr>
          <a:xfrm>
            <a:off x="3176806" y="4650496"/>
            <a:ext cx="1451831" cy="167056"/>
            <a:chOff x="2046410" y="1503486"/>
            <a:chExt cx="1451831" cy="167056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E3E56C93-0B11-4A66-AA01-377099A5E3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7CDB8507-1F41-4805-A030-B181DDD8E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26EE834B-01C1-453F-B650-A1E9DA6DB3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矩形 102">
            <a:extLst>
              <a:ext uri="{FF2B5EF4-FFF2-40B4-BE49-F238E27FC236}">
                <a16:creationId xmlns:a16="http://schemas.microsoft.com/office/drawing/2014/main" id="{8CE03008-F68E-4C2A-972C-65BC82A08C0B}"/>
              </a:ext>
            </a:extLst>
          </p:cNvPr>
          <p:cNvSpPr/>
          <p:nvPr/>
        </p:nvSpPr>
        <p:spPr>
          <a:xfrm>
            <a:off x="4070315" y="4729581"/>
            <a:ext cx="297293" cy="15609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3A7AE04-F197-4C13-994E-844C4D8A72C6}"/>
              </a:ext>
            </a:extLst>
          </p:cNvPr>
          <p:cNvCxnSpPr>
            <a:cxnSpLocks/>
          </p:cNvCxnSpPr>
          <p:nvPr/>
        </p:nvCxnSpPr>
        <p:spPr>
          <a:xfrm>
            <a:off x="3205747" y="4509819"/>
            <a:ext cx="0" cy="2989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99F7BE62-7DE7-4550-A890-7F12CA0EF82B}"/>
              </a:ext>
            </a:extLst>
          </p:cNvPr>
          <p:cNvCxnSpPr>
            <a:cxnSpLocks/>
          </p:cNvCxnSpPr>
          <p:nvPr/>
        </p:nvCxnSpPr>
        <p:spPr>
          <a:xfrm>
            <a:off x="2037789" y="4509819"/>
            <a:ext cx="12170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BAEE4AE4-1566-4129-AFBD-EA83D05CC6BC}"/>
              </a:ext>
            </a:extLst>
          </p:cNvPr>
          <p:cNvCxnSpPr>
            <a:cxnSpLocks/>
          </p:cNvCxnSpPr>
          <p:nvPr/>
        </p:nvCxnSpPr>
        <p:spPr>
          <a:xfrm>
            <a:off x="1602977" y="5120835"/>
            <a:ext cx="303823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41A91A3B-9A69-4924-BB32-E97EDDB8866B}"/>
              </a:ext>
            </a:extLst>
          </p:cNvPr>
          <p:cNvCxnSpPr>
            <a:cxnSpLocks/>
          </p:cNvCxnSpPr>
          <p:nvPr/>
        </p:nvCxnSpPr>
        <p:spPr>
          <a:xfrm flipH="1">
            <a:off x="1607986" y="756487"/>
            <a:ext cx="8826" cy="58943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22C8AFDD-57C1-4AC5-8B46-726F0B64113A}"/>
              </a:ext>
            </a:extLst>
          </p:cNvPr>
          <p:cNvCxnSpPr>
            <a:cxnSpLocks/>
          </p:cNvCxnSpPr>
          <p:nvPr/>
        </p:nvCxnSpPr>
        <p:spPr>
          <a:xfrm>
            <a:off x="2035012" y="395957"/>
            <a:ext cx="7209" cy="590278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0D2FA72D-35F3-47B0-9B49-913C9C86BF8E}"/>
              </a:ext>
            </a:extLst>
          </p:cNvPr>
          <p:cNvCxnSpPr>
            <a:cxnSpLocks/>
          </p:cNvCxnSpPr>
          <p:nvPr/>
        </p:nvCxnSpPr>
        <p:spPr>
          <a:xfrm>
            <a:off x="1655267" y="756487"/>
            <a:ext cx="3113210" cy="176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979DA8CF-76E3-44BA-82D8-48E78E83AD4D}"/>
              </a:ext>
            </a:extLst>
          </p:cNvPr>
          <p:cNvCxnSpPr>
            <a:cxnSpLocks/>
          </p:cNvCxnSpPr>
          <p:nvPr/>
        </p:nvCxnSpPr>
        <p:spPr>
          <a:xfrm>
            <a:off x="2073006" y="395957"/>
            <a:ext cx="2688585" cy="84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69ADA5F3-7496-4D3E-9E46-7452B69DB964}"/>
              </a:ext>
            </a:extLst>
          </p:cNvPr>
          <p:cNvSpPr/>
          <p:nvPr/>
        </p:nvSpPr>
        <p:spPr>
          <a:xfrm>
            <a:off x="4628637" y="5265625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制动电阻</a:t>
            </a:r>
            <a:endParaRPr lang="en-US" altLang="zh-CN" sz="1600" dirty="0"/>
          </a:p>
          <a:p>
            <a:pPr algn="ctr"/>
            <a:r>
              <a:rPr lang="en-US" altLang="zh-CN" sz="1600"/>
              <a:t>BR</a:t>
            </a:r>
            <a:r>
              <a:rPr lang="en-US" altLang="zh-CN" sz="1600" dirty="0"/>
              <a:t>S</a:t>
            </a:r>
            <a:endParaRPr lang="zh-CN" altLang="en-US" sz="1600" dirty="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42EC8DC9-57CB-4F31-9D37-3214539A648A}"/>
              </a:ext>
            </a:extLst>
          </p:cNvPr>
          <p:cNvSpPr/>
          <p:nvPr/>
        </p:nvSpPr>
        <p:spPr>
          <a:xfrm>
            <a:off x="4671269" y="237029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水冷机组</a:t>
            </a:r>
            <a:endParaRPr lang="en-US" altLang="zh-CN" sz="1600" dirty="0"/>
          </a:p>
          <a:p>
            <a:pPr algn="ctr"/>
            <a:r>
              <a:rPr lang="en-US" altLang="zh-CN" sz="1600" dirty="0"/>
              <a:t>TMS</a:t>
            </a:r>
            <a:endParaRPr lang="zh-CN" altLang="en-US" sz="1600" dirty="0"/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85FAE1EF-EF62-4806-A264-5B3BC992F2B5}"/>
              </a:ext>
            </a:extLst>
          </p:cNvPr>
          <p:cNvCxnSpPr>
            <a:cxnSpLocks/>
          </p:cNvCxnSpPr>
          <p:nvPr/>
        </p:nvCxnSpPr>
        <p:spPr>
          <a:xfrm>
            <a:off x="1607986" y="5860773"/>
            <a:ext cx="30206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AF4FB3F9-CE81-49EC-BAC1-C771F04647CC}"/>
              </a:ext>
            </a:extLst>
          </p:cNvPr>
          <p:cNvSpPr/>
          <p:nvPr/>
        </p:nvSpPr>
        <p:spPr>
          <a:xfrm>
            <a:off x="8064498" y="84689"/>
            <a:ext cx="1239714" cy="6773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VCU</a:t>
            </a:r>
            <a:endParaRPr lang="zh-CN" altLang="en-US" sz="1600" dirty="0"/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C68296EC-4B9D-4D3D-9084-7EF9614B6226}"/>
              </a:ext>
            </a:extLst>
          </p:cNvPr>
          <p:cNvCxnSpPr>
            <a:cxnSpLocks/>
          </p:cNvCxnSpPr>
          <p:nvPr/>
        </p:nvCxnSpPr>
        <p:spPr>
          <a:xfrm>
            <a:off x="2025377" y="3646614"/>
            <a:ext cx="12170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8922589C-D8BA-411D-B16C-53180C3D77E6}"/>
              </a:ext>
            </a:extLst>
          </p:cNvPr>
          <p:cNvSpPr/>
          <p:nvPr/>
        </p:nvSpPr>
        <p:spPr>
          <a:xfrm>
            <a:off x="4637463" y="2674589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OBC</a:t>
            </a:r>
            <a:endParaRPr lang="zh-CN" altLang="en-US" sz="1600" dirty="0"/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3FF6A2BE-ED53-469C-8F3A-DB905C2E8A48}"/>
              </a:ext>
            </a:extLst>
          </p:cNvPr>
          <p:cNvCxnSpPr>
            <a:cxnSpLocks/>
          </p:cNvCxnSpPr>
          <p:nvPr/>
        </p:nvCxnSpPr>
        <p:spPr>
          <a:xfrm>
            <a:off x="1616812" y="3269737"/>
            <a:ext cx="30206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EA9C8031-2F9A-414B-AD0E-EFBF200AB168}"/>
              </a:ext>
            </a:extLst>
          </p:cNvPr>
          <p:cNvCxnSpPr>
            <a:cxnSpLocks/>
          </p:cNvCxnSpPr>
          <p:nvPr/>
        </p:nvCxnSpPr>
        <p:spPr>
          <a:xfrm>
            <a:off x="2009296" y="2899979"/>
            <a:ext cx="26281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5091EDB5-AC98-484E-9829-15A755067653}"/>
              </a:ext>
            </a:extLst>
          </p:cNvPr>
          <p:cNvCxnSpPr>
            <a:cxnSpLocks/>
          </p:cNvCxnSpPr>
          <p:nvPr/>
        </p:nvCxnSpPr>
        <p:spPr>
          <a:xfrm>
            <a:off x="1602556" y="2026328"/>
            <a:ext cx="2059917" cy="2444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79185C27-E188-414A-B1E8-4173AD69E51A}"/>
              </a:ext>
            </a:extLst>
          </p:cNvPr>
          <p:cNvCxnSpPr>
            <a:cxnSpLocks/>
          </p:cNvCxnSpPr>
          <p:nvPr/>
        </p:nvCxnSpPr>
        <p:spPr>
          <a:xfrm>
            <a:off x="1607986" y="6650867"/>
            <a:ext cx="3113210" cy="176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7791D749-D6C2-4720-99CF-4874E7E1A08C}"/>
              </a:ext>
            </a:extLst>
          </p:cNvPr>
          <p:cNvCxnSpPr>
            <a:cxnSpLocks/>
          </p:cNvCxnSpPr>
          <p:nvPr/>
        </p:nvCxnSpPr>
        <p:spPr>
          <a:xfrm>
            <a:off x="2044775" y="6328437"/>
            <a:ext cx="2688585" cy="84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EFEE12AC-1380-4C9A-A6AB-E25E18EA8FA4}"/>
              </a:ext>
            </a:extLst>
          </p:cNvPr>
          <p:cNvSpPr/>
          <p:nvPr/>
        </p:nvSpPr>
        <p:spPr>
          <a:xfrm>
            <a:off x="4628637" y="6074937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TVW</a:t>
            </a:r>
            <a:endParaRPr lang="zh-CN" altLang="en-US" sz="1600" dirty="0"/>
          </a:p>
        </p:txBody>
      </p: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C177F4C3-1237-4EB6-AD47-6F73D0EAF282}"/>
              </a:ext>
            </a:extLst>
          </p:cNvPr>
          <p:cNvCxnSpPr>
            <a:cxnSpLocks/>
          </p:cNvCxnSpPr>
          <p:nvPr/>
        </p:nvCxnSpPr>
        <p:spPr>
          <a:xfrm flipH="1">
            <a:off x="5870223" y="1689695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4255338C-E441-44D3-BE6C-66A477E17F23}"/>
              </a:ext>
            </a:extLst>
          </p:cNvPr>
          <p:cNvCxnSpPr>
            <a:cxnSpLocks/>
          </p:cNvCxnSpPr>
          <p:nvPr/>
        </p:nvCxnSpPr>
        <p:spPr>
          <a:xfrm flipH="1">
            <a:off x="5870224" y="1977333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0BF725D-98FB-42F4-852A-04A139A0128A}"/>
              </a:ext>
            </a:extLst>
          </p:cNvPr>
          <p:cNvCxnSpPr>
            <a:cxnSpLocks/>
          </p:cNvCxnSpPr>
          <p:nvPr/>
        </p:nvCxnSpPr>
        <p:spPr>
          <a:xfrm>
            <a:off x="4898326" y="2218050"/>
            <a:ext cx="0" cy="4565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1885C98F-871F-4327-A725-F5B30DF9AC36}"/>
              </a:ext>
            </a:extLst>
          </p:cNvPr>
          <p:cNvCxnSpPr>
            <a:cxnSpLocks/>
          </p:cNvCxnSpPr>
          <p:nvPr/>
        </p:nvCxnSpPr>
        <p:spPr>
          <a:xfrm flipH="1" flipV="1">
            <a:off x="5619470" y="2218050"/>
            <a:ext cx="462" cy="4565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>
            <a:extLst>
              <a:ext uri="{FF2B5EF4-FFF2-40B4-BE49-F238E27FC236}">
                <a16:creationId xmlns:a16="http://schemas.microsoft.com/office/drawing/2014/main" id="{37C0946F-6CDD-4A30-8401-487FE2E1930B}"/>
              </a:ext>
            </a:extLst>
          </p:cNvPr>
          <p:cNvSpPr txBox="1"/>
          <p:nvPr/>
        </p:nvSpPr>
        <p:spPr>
          <a:xfrm>
            <a:off x="6058067" y="1423225"/>
            <a:ext cx="1674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VCU_BMS</a:t>
            </a:r>
            <a:r>
              <a:rPr lang="zh-CN" altLang="en-US" sz="1200" dirty="0">
                <a:solidFill>
                  <a:srgbClr val="FF0000"/>
                </a:solidFill>
              </a:rPr>
              <a:t>上下电</a:t>
            </a:r>
            <a:r>
              <a:rPr lang="zh-CN" altLang="en-US" sz="1200" dirty="0"/>
              <a:t>请求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B0151049-48CA-4022-B82E-0815C0077BF1}"/>
              </a:ext>
            </a:extLst>
          </p:cNvPr>
          <p:cNvSpPr txBox="1"/>
          <p:nvPr/>
        </p:nvSpPr>
        <p:spPr>
          <a:xfrm>
            <a:off x="5863702" y="1996763"/>
            <a:ext cx="21147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BMS_Relay</a:t>
            </a:r>
            <a:r>
              <a:rPr lang="en-US" altLang="zh-CN" sz="1200" dirty="0"/>
              <a:t> Status</a:t>
            </a:r>
            <a:r>
              <a:rPr lang="zh-CN" altLang="en-US" sz="1200" dirty="0"/>
              <a:t>主负接电器</a:t>
            </a:r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4F003EB9-C708-461A-8741-1F274ABAD797}"/>
              </a:ext>
            </a:extLst>
          </p:cNvPr>
          <p:cNvCxnSpPr>
            <a:cxnSpLocks/>
          </p:cNvCxnSpPr>
          <p:nvPr/>
        </p:nvCxnSpPr>
        <p:spPr>
          <a:xfrm flipH="1">
            <a:off x="5863702" y="3801034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5A1905DA-0CED-4F1C-8FC0-53DD0367EC00}"/>
              </a:ext>
            </a:extLst>
          </p:cNvPr>
          <p:cNvCxnSpPr>
            <a:cxnSpLocks/>
          </p:cNvCxnSpPr>
          <p:nvPr/>
        </p:nvCxnSpPr>
        <p:spPr>
          <a:xfrm flipH="1">
            <a:off x="5863703" y="4114072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70AD7445-5677-4DEF-9A1B-2827AEA6F077}"/>
              </a:ext>
            </a:extLst>
          </p:cNvPr>
          <p:cNvCxnSpPr>
            <a:cxnSpLocks/>
          </p:cNvCxnSpPr>
          <p:nvPr/>
        </p:nvCxnSpPr>
        <p:spPr>
          <a:xfrm flipH="1">
            <a:off x="5856748" y="4611979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C10A0195-791D-416E-B952-F5C5C1BE5F98}"/>
              </a:ext>
            </a:extLst>
          </p:cNvPr>
          <p:cNvCxnSpPr>
            <a:cxnSpLocks/>
          </p:cNvCxnSpPr>
          <p:nvPr/>
        </p:nvCxnSpPr>
        <p:spPr>
          <a:xfrm flipH="1">
            <a:off x="5856749" y="4925017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E27C2F61-4994-424E-B94F-8F4AFC66B7B6}"/>
              </a:ext>
            </a:extLst>
          </p:cNvPr>
          <p:cNvCxnSpPr>
            <a:cxnSpLocks/>
          </p:cNvCxnSpPr>
          <p:nvPr/>
        </p:nvCxnSpPr>
        <p:spPr>
          <a:xfrm flipH="1">
            <a:off x="5874701" y="5543355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985FF63C-A4A4-4C2A-9FB3-5E2A6D7394D4}"/>
              </a:ext>
            </a:extLst>
          </p:cNvPr>
          <p:cNvCxnSpPr>
            <a:cxnSpLocks/>
          </p:cNvCxnSpPr>
          <p:nvPr/>
        </p:nvCxnSpPr>
        <p:spPr>
          <a:xfrm flipH="1">
            <a:off x="5874702" y="5761143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17D3F901-6FE3-40E3-9DCE-9FB32514EDDB}"/>
              </a:ext>
            </a:extLst>
          </p:cNvPr>
          <p:cNvCxnSpPr>
            <a:cxnSpLocks/>
          </p:cNvCxnSpPr>
          <p:nvPr/>
        </p:nvCxnSpPr>
        <p:spPr>
          <a:xfrm flipH="1">
            <a:off x="5910983" y="460835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CE74302D-926B-4D33-A26D-08505276408D}"/>
              </a:ext>
            </a:extLst>
          </p:cNvPr>
          <p:cNvCxnSpPr>
            <a:cxnSpLocks/>
          </p:cNvCxnSpPr>
          <p:nvPr/>
        </p:nvCxnSpPr>
        <p:spPr>
          <a:xfrm flipH="1">
            <a:off x="5910984" y="697673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207A13AA-6FF0-4130-8962-B2D47AABC9A3}"/>
              </a:ext>
            </a:extLst>
          </p:cNvPr>
          <p:cNvSpPr txBox="1"/>
          <p:nvPr/>
        </p:nvSpPr>
        <p:spPr>
          <a:xfrm>
            <a:off x="2885306" y="1743040"/>
            <a:ext cx="1029928" cy="28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主负接电器</a:t>
            </a: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61FFC2A-1333-48CC-99CD-191426F46712}"/>
              </a:ext>
            </a:extLst>
          </p:cNvPr>
          <p:cNvSpPr txBox="1"/>
          <p:nvPr/>
        </p:nvSpPr>
        <p:spPr>
          <a:xfrm>
            <a:off x="3310387" y="2300370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zh-CN" altLang="en-US" dirty="0"/>
              <a:t>BMS_OBC充电控制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E9F8FC94-77CA-4CD9-A82E-CD142053E259}"/>
              </a:ext>
            </a:extLst>
          </p:cNvPr>
          <p:cNvSpPr txBox="1"/>
          <p:nvPr/>
        </p:nvSpPr>
        <p:spPr>
          <a:xfrm>
            <a:off x="5619470" y="2400548"/>
            <a:ext cx="180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 err="1"/>
              <a:t>OBC_Charger</a:t>
            </a:r>
            <a:r>
              <a:rPr lang="en-US" altLang="zh-CN" dirty="0"/>
              <a:t> Status</a:t>
            </a:r>
            <a:endParaRPr lang="zh-CN" altLang="en-US" dirty="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8CC5DDBC-481F-4E50-B38C-89ABDA22DF37}"/>
              </a:ext>
            </a:extLst>
          </p:cNvPr>
          <p:cNvSpPr txBox="1"/>
          <p:nvPr/>
        </p:nvSpPr>
        <p:spPr>
          <a:xfrm>
            <a:off x="5614214" y="1102257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BMS2TMS</a:t>
            </a:r>
            <a:r>
              <a:rPr lang="zh-CN" altLang="en-US" dirty="0"/>
              <a:t>目标温度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9590E471-01FE-49E8-86A0-C53BE17BE027}"/>
              </a:ext>
            </a:extLst>
          </p:cNvPr>
          <p:cNvSpPr txBox="1"/>
          <p:nvPr/>
        </p:nvSpPr>
        <p:spPr>
          <a:xfrm>
            <a:off x="3124048" y="1082409"/>
            <a:ext cx="18829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TMS2BMS</a:t>
            </a:r>
            <a:r>
              <a:rPr lang="zh-CN" altLang="en-US" dirty="0"/>
              <a:t>进水</a:t>
            </a:r>
            <a:r>
              <a:rPr lang="en-US" altLang="zh-CN" dirty="0"/>
              <a:t>/</a:t>
            </a:r>
            <a:r>
              <a:rPr lang="zh-CN" altLang="en-US" dirty="0"/>
              <a:t>回水温度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2DC99583-9B18-4BF4-90E8-F4DC37614F10}"/>
              </a:ext>
            </a:extLst>
          </p:cNvPr>
          <p:cNvSpPr txBox="1"/>
          <p:nvPr/>
        </p:nvSpPr>
        <p:spPr>
          <a:xfrm>
            <a:off x="6058067" y="713318"/>
            <a:ext cx="1887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TMS2VCU</a:t>
            </a:r>
            <a:r>
              <a:rPr lang="zh-CN" altLang="en-US" dirty="0"/>
              <a:t>请求风机档位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216D0201-0958-44A5-A96D-7651294C17E8}"/>
              </a:ext>
            </a:extLst>
          </p:cNvPr>
          <p:cNvSpPr txBox="1"/>
          <p:nvPr/>
        </p:nvSpPr>
        <p:spPr>
          <a:xfrm>
            <a:off x="6146604" y="193108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VCU2TMS</a:t>
            </a:r>
            <a:r>
              <a:rPr lang="zh-CN" altLang="en-US" dirty="0"/>
              <a:t>风机档位</a:t>
            </a:r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B62DA9A8-94D8-4CA3-BC95-B665312342AB}"/>
              </a:ext>
            </a:extLst>
          </p:cNvPr>
          <p:cNvCxnSpPr>
            <a:cxnSpLocks/>
          </p:cNvCxnSpPr>
          <p:nvPr/>
        </p:nvCxnSpPr>
        <p:spPr>
          <a:xfrm>
            <a:off x="4902626" y="1027193"/>
            <a:ext cx="0" cy="4565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B44849B6-625D-45EE-B44B-7AB98C8291C2}"/>
              </a:ext>
            </a:extLst>
          </p:cNvPr>
          <p:cNvCxnSpPr>
            <a:cxnSpLocks/>
          </p:cNvCxnSpPr>
          <p:nvPr/>
        </p:nvCxnSpPr>
        <p:spPr>
          <a:xfrm flipH="1" flipV="1">
            <a:off x="5623770" y="1027193"/>
            <a:ext cx="462" cy="4565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12DD1050-B742-43AE-8F3A-2D7D3FDE17CB}"/>
              </a:ext>
            </a:extLst>
          </p:cNvPr>
          <p:cNvSpPr txBox="1"/>
          <p:nvPr/>
        </p:nvSpPr>
        <p:spPr>
          <a:xfrm>
            <a:off x="5933318" y="5245519"/>
            <a:ext cx="21204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VCU2BRS</a:t>
            </a:r>
            <a:r>
              <a:rPr lang="zh-CN" altLang="en-US" sz="1200" dirty="0">
                <a:solidFill>
                  <a:srgbClr val="FF0000"/>
                </a:solidFill>
              </a:rPr>
              <a:t>上下电</a:t>
            </a:r>
            <a:r>
              <a:rPr lang="zh-CN" altLang="en-US" sz="1200" dirty="0"/>
              <a:t>和功率请求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8B9402D1-5536-4266-A8A7-E3EDCFDC173F}"/>
              </a:ext>
            </a:extLst>
          </p:cNvPr>
          <p:cNvSpPr txBox="1"/>
          <p:nvPr/>
        </p:nvSpPr>
        <p:spPr>
          <a:xfrm>
            <a:off x="6000459" y="5763782"/>
            <a:ext cx="1958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VCU2BRS</a:t>
            </a:r>
            <a:r>
              <a:rPr lang="zh-CN" altLang="en-US" sz="1200" dirty="0"/>
              <a:t>工作模式和功率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15026316-3ACF-435A-B5DD-CB7E80A60375}"/>
              </a:ext>
            </a:extLst>
          </p:cNvPr>
          <p:cNvSpPr txBox="1"/>
          <p:nvPr/>
        </p:nvSpPr>
        <p:spPr>
          <a:xfrm>
            <a:off x="6017510" y="3321507"/>
            <a:ext cx="1674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Ctrl_HVC</a:t>
            </a:r>
            <a:r>
              <a:rPr lang="zh-CN" altLang="en-US" sz="1200" dirty="0">
                <a:solidFill>
                  <a:srgbClr val="FF0000"/>
                </a:solidFill>
              </a:rPr>
              <a:t>上下电</a:t>
            </a:r>
            <a:r>
              <a:rPr lang="zh-CN" altLang="en-US" sz="1200" dirty="0"/>
              <a:t>请求</a:t>
            </a:r>
            <a:endParaRPr lang="en-US" altLang="zh-CN" sz="1200" dirty="0"/>
          </a:p>
          <a:p>
            <a:r>
              <a:rPr lang="en-US" altLang="zh-CN" sz="1200" dirty="0"/>
              <a:t>DCDC</a:t>
            </a:r>
            <a:r>
              <a:rPr lang="zh-CN" altLang="en-US" sz="1200" dirty="0"/>
              <a:t>使能</a:t>
            </a:r>
            <a:r>
              <a:rPr lang="en-US" altLang="zh-CN" sz="1200" dirty="0"/>
              <a:t>+</a:t>
            </a:r>
            <a:r>
              <a:rPr lang="zh-CN" altLang="en-US" sz="1200" dirty="0"/>
              <a:t>电机控制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ED95B41A-7326-4336-AEE7-63EAD8F22E6A}"/>
              </a:ext>
            </a:extLst>
          </p:cNvPr>
          <p:cNvSpPr txBox="1"/>
          <p:nvPr/>
        </p:nvSpPr>
        <p:spPr>
          <a:xfrm>
            <a:off x="5966396" y="4087334"/>
            <a:ext cx="1940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HVC4_RlySt</a:t>
            </a:r>
            <a:r>
              <a:rPr lang="zh-CN" altLang="en-US" sz="1200" dirty="0"/>
              <a:t>继电器状态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1D3B5840-3DC6-413B-AC96-69D423791266}"/>
              </a:ext>
            </a:extLst>
          </p:cNvPr>
          <p:cNvSpPr txBox="1"/>
          <p:nvPr/>
        </p:nvSpPr>
        <p:spPr>
          <a:xfrm>
            <a:off x="5910983" y="4362166"/>
            <a:ext cx="2150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VCU_PDU</a:t>
            </a:r>
            <a:r>
              <a:rPr lang="zh-CN" altLang="en-US" sz="1200" dirty="0">
                <a:solidFill>
                  <a:srgbClr val="FF0000"/>
                </a:solidFill>
              </a:rPr>
              <a:t>上下电</a:t>
            </a:r>
            <a:r>
              <a:rPr lang="en-US" altLang="zh-CN" sz="1200" dirty="0">
                <a:solidFill>
                  <a:srgbClr val="FF0000"/>
                </a:solidFill>
              </a:rPr>
              <a:t>+</a:t>
            </a:r>
            <a:r>
              <a:rPr lang="zh-CN" altLang="en-US" sz="1200" dirty="0">
                <a:solidFill>
                  <a:srgbClr val="FF0000"/>
                </a:solidFill>
              </a:rPr>
              <a:t>继电器</a:t>
            </a:r>
            <a:r>
              <a:rPr lang="zh-CN" altLang="en-US" sz="1200" dirty="0"/>
              <a:t>请求</a:t>
            </a:r>
            <a:endParaRPr lang="en-US" altLang="zh-CN" sz="1200" dirty="0"/>
          </a:p>
          <a:p>
            <a:r>
              <a:rPr lang="en-US" altLang="zh-CN" sz="1200" dirty="0"/>
              <a:t>ACU</a:t>
            </a:r>
            <a:r>
              <a:rPr lang="zh-CN" altLang="en-US" sz="1200" dirty="0"/>
              <a:t>使能</a:t>
            </a:r>
            <a:r>
              <a:rPr lang="en-US" altLang="zh-CN" sz="1200" dirty="0"/>
              <a:t>+</a:t>
            </a:r>
            <a:r>
              <a:rPr lang="zh-CN" altLang="en-US" sz="1200" dirty="0"/>
              <a:t>电机控制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75436A83-4BBD-478E-A485-201D2E2E6402}"/>
              </a:ext>
            </a:extLst>
          </p:cNvPr>
          <p:cNvSpPr txBox="1"/>
          <p:nvPr/>
        </p:nvSpPr>
        <p:spPr>
          <a:xfrm>
            <a:off x="5966396" y="4913155"/>
            <a:ext cx="1940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/>
              <a:t>PDU_RelaySt</a:t>
            </a:r>
            <a:r>
              <a:rPr lang="zh-CN" altLang="en-US" sz="1200" dirty="0"/>
              <a:t>继电器状态</a:t>
            </a:r>
          </a:p>
        </p:txBody>
      </p: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20D04D69-73A4-4930-8A6E-1CC7759C2192}"/>
              </a:ext>
            </a:extLst>
          </p:cNvPr>
          <p:cNvCxnSpPr>
            <a:cxnSpLocks/>
          </p:cNvCxnSpPr>
          <p:nvPr/>
        </p:nvCxnSpPr>
        <p:spPr>
          <a:xfrm flipH="1">
            <a:off x="5880534" y="6349274"/>
            <a:ext cx="219801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BC13BB27-BCB4-4316-A663-A5C6199683D3}"/>
              </a:ext>
            </a:extLst>
          </p:cNvPr>
          <p:cNvCxnSpPr>
            <a:cxnSpLocks/>
          </p:cNvCxnSpPr>
          <p:nvPr/>
        </p:nvCxnSpPr>
        <p:spPr>
          <a:xfrm flipH="1">
            <a:off x="5880535" y="6586112"/>
            <a:ext cx="2198018" cy="0"/>
          </a:xfrm>
          <a:prstGeom prst="straightConnector1">
            <a:avLst/>
          </a:prstGeom>
          <a:ln w="127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9D270017-4A53-49B1-B222-07971FC0290E}"/>
              </a:ext>
            </a:extLst>
          </p:cNvPr>
          <p:cNvSpPr txBox="1"/>
          <p:nvPr/>
        </p:nvSpPr>
        <p:spPr>
          <a:xfrm>
            <a:off x="5939151" y="6051438"/>
            <a:ext cx="21204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VCU_TWV</a:t>
            </a:r>
            <a:r>
              <a:rPr lang="zh-CN" altLang="en-US" sz="1200" dirty="0"/>
              <a:t>阀目标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519BC90D-D24B-4317-B7E9-C15DB84C7E37}"/>
              </a:ext>
            </a:extLst>
          </p:cNvPr>
          <p:cNvSpPr txBox="1"/>
          <p:nvPr/>
        </p:nvSpPr>
        <p:spPr>
          <a:xfrm>
            <a:off x="5993173" y="6575392"/>
            <a:ext cx="1958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TWV</a:t>
            </a:r>
            <a:r>
              <a:rPr lang="zh-CN" altLang="en-US" sz="1200" dirty="0"/>
              <a:t>阀状态</a:t>
            </a:r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BE6D0237-38E1-4F3B-A99D-21B8F0B4FC99}"/>
              </a:ext>
            </a:extLst>
          </p:cNvPr>
          <p:cNvGrpSpPr/>
          <p:nvPr/>
        </p:nvGrpSpPr>
        <p:grpSpPr>
          <a:xfrm>
            <a:off x="3185632" y="5403905"/>
            <a:ext cx="1451831" cy="167056"/>
            <a:chOff x="2046410" y="1503486"/>
            <a:chExt cx="1451831" cy="167056"/>
          </a:xfrm>
        </p:grpSpPr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EEDE8EA5-2CA8-4777-A50E-625BA87A0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5E083FFA-22B4-412D-96E5-B96F20847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A27CB373-3275-4E2C-8A60-C610384041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3BA368BB-B1F5-4013-BDBA-108B05A53C46}"/>
              </a:ext>
            </a:extLst>
          </p:cNvPr>
          <p:cNvCxnSpPr>
            <a:cxnSpLocks/>
          </p:cNvCxnSpPr>
          <p:nvPr/>
        </p:nvCxnSpPr>
        <p:spPr>
          <a:xfrm>
            <a:off x="2046615" y="5570959"/>
            <a:ext cx="12170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8EA228B3-93E9-4F44-BA04-A2E2B53FED2A}"/>
              </a:ext>
            </a:extLst>
          </p:cNvPr>
          <p:cNvCxnSpPr>
            <a:cxnSpLocks/>
            <a:stCxn id="91" idx="3"/>
          </p:cNvCxnSpPr>
          <p:nvPr/>
        </p:nvCxnSpPr>
        <p:spPr>
          <a:xfrm>
            <a:off x="5877177" y="3057056"/>
            <a:ext cx="2153514" cy="14260"/>
          </a:xfrm>
          <a:prstGeom prst="line">
            <a:avLst/>
          </a:prstGeom>
          <a:ln w="38100">
            <a:solidFill>
              <a:schemeClr val="accent4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E55927B7-F9FF-4CB9-B494-ED961C1EF336}"/>
              </a:ext>
            </a:extLst>
          </p:cNvPr>
          <p:cNvSpPr txBox="1"/>
          <p:nvPr/>
        </p:nvSpPr>
        <p:spPr>
          <a:xfrm>
            <a:off x="7077729" y="2779418"/>
            <a:ext cx="9100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zh-CN" altLang="en-US" dirty="0"/>
              <a:t>唤醒</a:t>
            </a:r>
          </a:p>
        </p:txBody>
      </p: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7BDE1D7B-5CD8-42C7-811A-7AB86E6E085A}"/>
              </a:ext>
            </a:extLst>
          </p:cNvPr>
          <p:cNvCxnSpPr>
            <a:cxnSpLocks/>
          </p:cNvCxnSpPr>
          <p:nvPr/>
        </p:nvCxnSpPr>
        <p:spPr>
          <a:xfrm flipH="1">
            <a:off x="9309605" y="3069346"/>
            <a:ext cx="1881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本框 181">
            <a:extLst>
              <a:ext uri="{FF2B5EF4-FFF2-40B4-BE49-F238E27FC236}">
                <a16:creationId xmlns:a16="http://schemas.microsoft.com/office/drawing/2014/main" id="{394A6D39-1E6A-487B-B215-B7040CF3B85A}"/>
              </a:ext>
            </a:extLst>
          </p:cNvPr>
          <p:cNvSpPr txBox="1"/>
          <p:nvPr/>
        </p:nvSpPr>
        <p:spPr>
          <a:xfrm>
            <a:off x="9462087" y="2780057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zh-CN" altLang="en-US" dirty="0"/>
              <a:t>充电请求</a:t>
            </a:r>
          </a:p>
        </p:txBody>
      </p: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542AD3EA-32EA-49CB-BF3B-830917CA9F78}"/>
              </a:ext>
            </a:extLst>
          </p:cNvPr>
          <p:cNvCxnSpPr>
            <a:cxnSpLocks/>
          </p:cNvCxnSpPr>
          <p:nvPr/>
        </p:nvCxnSpPr>
        <p:spPr>
          <a:xfrm flipH="1">
            <a:off x="9309605" y="3768849"/>
            <a:ext cx="1881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AFB6D18-7133-43AB-B6DF-5B3B557BBAAC}"/>
              </a:ext>
            </a:extLst>
          </p:cNvPr>
          <p:cNvSpPr txBox="1"/>
          <p:nvPr/>
        </p:nvSpPr>
        <p:spPr>
          <a:xfrm>
            <a:off x="9462087" y="3479560"/>
            <a:ext cx="1486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r>
              <a:rPr lang="en-US" altLang="zh-CN" dirty="0"/>
              <a:t>IG START</a:t>
            </a:r>
            <a:r>
              <a:rPr lang="zh-CN" altLang="en-US" dirty="0"/>
              <a:t>或</a:t>
            </a:r>
            <a:r>
              <a:rPr lang="en-US" altLang="zh-CN" dirty="0"/>
              <a:t>IG OFF</a:t>
            </a:r>
            <a:endParaRPr lang="zh-CN" altLang="en-US" dirty="0"/>
          </a:p>
        </p:txBody>
      </p:sp>
      <p:sp>
        <p:nvSpPr>
          <p:cNvPr id="106" name="内容占位符 2">
            <a:extLst>
              <a:ext uri="{FF2B5EF4-FFF2-40B4-BE49-F238E27FC236}">
                <a16:creationId xmlns:a16="http://schemas.microsoft.com/office/drawing/2014/main" id="{CF114BA1-E966-4533-BD9E-334681D71667}"/>
              </a:ext>
            </a:extLst>
          </p:cNvPr>
          <p:cNvSpPr txBox="1">
            <a:spLocks/>
          </p:cNvSpPr>
          <p:nvPr/>
        </p:nvSpPr>
        <p:spPr>
          <a:xfrm>
            <a:off x="9390239" y="74354"/>
            <a:ext cx="2701490" cy="121068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请确认高压系统结构图是否正确；</a:t>
            </a:r>
            <a:endParaRPr lang="en-US" altLang="zh-CN" sz="1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永磁同步多合一中还有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ACU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等接电器，此图未画出来</a:t>
            </a:r>
            <a:endParaRPr lang="en-US" altLang="zh-CN" sz="1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40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BE62-1647-4B9D-A828-27135143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60" y="240720"/>
            <a:ext cx="2327241" cy="53144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高压上电流程：</a:t>
            </a:r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1558AC-EEE4-4E84-93E3-2882FCEB3D58}"/>
              </a:ext>
            </a:extLst>
          </p:cNvPr>
          <p:cNvCxnSpPr>
            <a:cxnSpLocks/>
          </p:cNvCxnSpPr>
          <p:nvPr/>
        </p:nvCxnSpPr>
        <p:spPr>
          <a:xfrm flipH="1">
            <a:off x="972111" y="1246412"/>
            <a:ext cx="6878" cy="5130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2A81F9A-3571-45C7-9D5C-218900637D65}"/>
              </a:ext>
            </a:extLst>
          </p:cNvPr>
          <p:cNvCxnSpPr>
            <a:cxnSpLocks/>
          </p:cNvCxnSpPr>
          <p:nvPr/>
        </p:nvCxnSpPr>
        <p:spPr>
          <a:xfrm flipH="1">
            <a:off x="3820261" y="1246412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B04FA22-20FE-4481-8718-407B50947B40}"/>
              </a:ext>
            </a:extLst>
          </p:cNvPr>
          <p:cNvSpPr txBox="1">
            <a:spLocks/>
          </p:cNvSpPr>
          <p:nvPr/>
        </p:nvSpPr>
        <p:spPr>
          <a:xfrm>
            <a:off x="325349" y="720437"/>
            <a:ext cx="1352479" cy="275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None/>
              <a:defRPr sz="1000" b="1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</a:lvl9pPr>
          </a:lstStyle>
          <a:p>
            <a:r>
              <a:rPr lang="en-US" altLang="zh-CN" dirty="0"/>
              <a:t>VCU</a:t>
            </a:r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B05ED1E-AF91-492B-909A-D6B88AC218B3}"/>
              </a:ext>
            </a:extLst>
          </p:cNvPr>
          <p:cNvSpPr txBox="1">
            <a:spLocks/>
          </p:cNvSpPr>
          <p:nvPr/>
        </p:nvSpPr>
        <p:spPr>
          <a:xfrm>
            <a:off x="3154270" y="714972"/>
            <a:ext cx="1352479" cy="235082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BMS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3D904E5A-CF8B-4669-B4C7-135CFA13377A}"/>
              </a:ext>
            </a:extLst>
          </p:cNvPr>
          <p:cNvSpPr txBox="1">
            <a:spLocks/>
          </p:cNvSpPr>
          <p:nvPr/>
        </p:nvSpPr>
        <p:spPr>
          <a:xfrm>
            <a:off x="2757345" y="365794"/>
            <a:ext cx="1013349" cy="34917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钥匙</a:t>
            </a: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start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F89B997-CF70-4A8E-8978-1EE213E722A6}"/>
              </a:ext>
            </a:extLst>
          </p:cNvPr>
          <p:cNvCxnSpPr>
            <a:cxnSpLocks/>
          </p:cNvCxnSpPr>
          <p:nvPr/>
        </p:nvCxnSpPr>
        <p:spPr>
          <a:xfrm>
            <a:off x="960567" y="1888142"/>
            <a:ext cx="2838087" cy="24121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9051C8ED-4A0A-41BB-A1A7-CD460F458FC3}"/>
              </a:ext>
            </a:extLst>
          </p:cNvPr>
          <p:cNvSpPr txBox="1">
            <a:spLocks/>
          </p:cNvSpPr>
          <p:nvPr/>
        </p:nvSpPr>
        <p:spPr>
          <a:xfrm>
            <a:off x="1466851" y="1747812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发送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VCU_BMS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高压上电命令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69B7ABC6-4240-49D1-A590-79783FA9A7F6}"/>
              </a:ext>
            </a:extLst>
          </p:cNvPr>
          <p:cNvSpPr txBox="1">
            <a:spLocks/>
          </p:cNvSpPr>
          <p:nvPr/>
        </p:nvSpPr>
        <p:spPr>
          <a:xfrm>
            <a:off x="1032238" y="944759"/>
            <a:ext cx="2834184" cy="699161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判断条件：</a:t>
            </a:r>
            <a:endParaRPr lang="en-US" altLang="zh-CN" sz="1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充电连接无效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BMS: 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自检结果、绝缘电阻、故障等级</a:t>
            </a:r>
            <a:endParaRPr lang="en-US" altLang="zh-CN" sz="1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MCU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等：无严重故障</a:t>
            </a:r>
            <a:endParaRPr lang="en-US" altLang="zh-CN" sz="1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6B2DB26F-B0F5-405D-A61A-82502F0C166F}"/>
              </a:ext>
            </a:extLst>
          </p:cNvPr>
          <p:cNvSpPr txBox="1">
            <a:spLocks/>
          </p:cNvSpPr>
          <p:nvPr/>
        </p:nvSpPr>
        <p:spPr>
          <a:xfrm>
            <a:off x="3822937" y="2095736"/>
            <a:ext cx="1055414" cy="218576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主负继电器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818CE30-6935-41EB-82ED-9A5FCF14A852}"/>
              </a:ext>
            </a:extLst>
          </p:cNvPr>
          <p:cNvCxnSpPr>
            <a:cxnSpLocks/>
          </p:cNvCxnSpPr>
          <p:nvPr/>
        </p:nvCxnSpPr>
        <p:spPr>
          <a:xfrm flipH="1">
            <a:off x="1005446" y="2268932"/>
            <a:ext cx="2793209" cy="22193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内容占位符 2">
            <a:extLst>
              <a:ext uri="{FF2B5EF4-FFF2-40B4-BE49-F238E27FC236}">
                <a16:creationId xmlns:a16="http://schemas.microsoft.com/office/drawing/2014/main" id="{5B94DF53-636A-4149-B139-6C8AE7568FBD}"/>
              </a:ext>
            </a:extLst>
          </p:cNvPr>
          <p:cNvSpPr txBox="1">
            <a:spLocks/>
          </p:cNvSpPr>
          <p:nvPr/>
        </p:nvSpPr>
        <p:spPr>
          <a:xfrm>
            <a:off x="1391474" y="2205048"/>
            <a:ext cx="196167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返回</a:t>
            </a: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BMS_Relay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 Status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主负继电器闭合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5BE850D-6746-49F9-B2A2-28E5266519D5}"/>
              </a:ext>
            </a:extLst>
          </p:cNvPr>
          <p:cNvCxnSpPr>
            <a:cxnSpLocks/>
          </p:cNvCxnSpPr>
          <p:nvPr/>
        </p:nvCxnSpPr>
        <p:spPr>
          <a:xfrm flipH="1">
            <a:off x="6629766" y="1398344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3E7478E-DECC-4522-B08B-1763E9E5936B}"/>
              </a:ext>
            </a:extLst>
          </p:cNvPr>
          <p:cNvCxnSpPr>
            <a:cxnSpLocks/>
          </p:cNvCxnSpPr>
          <p:nvPr/>
        </p:nvCxnSpPr>
        <p:spPr>
          <a:xfrm>
            <a:off x="973994" y="3680213"/>
            <a:ext cx="5628543" cy="330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内容占位符 2">
            <a:extLst>
              <a:ext uri="{FF2B5EF4-FFF2-40B4-BE49-F238E27FC236}">
                <a16:creationId xmlns:a16="http://schemas.microsoft.com/office/drawing/2014/main" id="{A19CC6A3-EDB3-485B-B176-90F6DCE97F5F}"/>
              </a:ext>
            </a:extLst>
          </p:cNvPr>
          <p:cNvSpPr txBox="1">
            <a:spLocks/>
          </p:cNvSpPr>
          <p:nvPr/>
        </p:nvSpPr>
        <p:spPr>
          <a:xfrm>
            <a:off x="6006989" y="714972"/>
            <a:ext cx="1352479" cy="226136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开关磁阻</a:t>
            </a: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824D3595-CF7E-4AEA-8B4B-9C51B67B79AE}"/>
              </a:ext>
            </a:extLst>
          </p:cNvPr>
          <p:cNvSpPr txBox="1">
            <a:spLocks/>
          </p:cNvSpPr>
          <p:nvPr/>
        </p:nvSpPr>
        <p:spPr>
          <a:xfrm>
            <a:off x="4318309" y="3722509"/>
            <a:ext cx="1677152" cy="22506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VCU_DCDC1+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电机使能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0679408C-5017-4B17-9CB8-113656E0B0FE}"/>
              </a:ext>
            </a:extLst>
          </p:cNvPr>
          <p:cNvCxnSpPr>
            <a:cxnSpLocks/>
          </p:cNvCxnSpPr>
          <p:nvPr/>
        </p:nvCxnSpPr>
        <p:spPr>
          <a:xfrm>
            <a:off x="977616" y="2633249"/>
            <a:ext cx="5645350" cy="29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内容占位符 2">
            <a:extLst>
              <a:ext uri="{FF2B5EF4-FFF2-40B4-BE49-F238E27FC236}">
                <a16:creationId xmlns:a16="http://schemas.microsoft.com/office/drawing/2014/main" id="{0638C976-5785-4862-8CE4-9C90AF0FD0F1}"/>
              </a:ext>
            </a:extLst>
          </p:cNvPr>
          <p:cNvSpPr txBox="1">
            <a:spLocks/>
          </p:cNvSpPr>
          <p:nvPr/>
        </p:nvSpPr>
        <p:spPr>
          <a:xfrm>
            <a:off x="4213930" y="2481813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Ctrl_HVC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上电指令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189C5B4-3E25-4957-9037-50E40B6CF41D}"/>
              </a:ext>
            </a:extLst>
          </p:cNvPr>
          <p:cNvCxnSpPr>
            <a:cxnSpLocks/>
          </p:cNvCxnSpPr>
          <p:nvPr/>
        </p:nvCxnSpPr>
        <p:spPr>
          <a:xfrm flipH="1">
            <a:off x="969823" y="3222955"/>
            <a:ext cx="5660310" cy="145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内容占位符 2">
            <a:extLst>
              <a:ext uri="{FF2B5EF4-FFF2-40B4-BE49-F238E27FC236}">
                <a16:creationId xmlns:a16="http://schemas.microsoft.com/office/drawing/2014/main" id="{2806D88B-0BF4-4F9C-89A3-09334EA15B8F}"/>
              </a:ext>
            </a:extLst>
          </p:cNvPr>
          <p:cNvSpPr txBox="1">
            <a:spLocks/>
          </p:cNvSpPr>
          <p:nvPr/>
        </p:nvSpPr>
        <p:spPr>
          <a:xfrm>
            <a:off x="6700359" y="2992380"/>
            <a:ext cx="963497" cy="26857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预充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主正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内容占位符 2">
            <a:extLst>
              <a:ext uri="{FF2B5EF4-FFF2-40B4-BE49-F238E27FC236}">
                <a16:creationId xmlns:a16="http://schemas.microsoft.com/office/drawing/2014/main" id="{58368085-0674-4FDC-BAB2-D7E4AAA60F33}"/>
              </a:ext>
            </a:extLst>
          </p:cNvPr>
          <p:cNvSpPr txBox="1">
            <a:spLocks/>
          </p:cNvSpPr>
          <p:nvPr/>
        </p:nvSpPr>
        <p:spPr>
          <a:xfrm>
            <a:off x="4213930" y="3097372"/>
            <a:ext cx="2165626" cy="23192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HVC4_RlySt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上电状态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HVC7_HV1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电压等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6AC84DAC-8565-4015-83AB-BE0446CE35BC}"/>
              </a:ext>
            </a:extLst>
          </p:cNvPr>
          <p:cNvCxnSpPr>
            <a:cxnSpLocks/>
          </p:cNvCxnSpPr>
          <p:nvPr/>
        </p:nvCxnSpPr>
        <p:spPr>
          <a:xfrm>
            <a:off x="9189061" y="1364595"/>
            <a:ext cx="0" cy="5224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内容占位符 2">
            <a:extLst>
              <a:ext uri="{FF2B5EF4-FFF2-40B4-BE49-F238E27FC236}">
                <a16:creationId xmlns:a16="http://schemas.microsoft.com/office/drawing/2014/main" id="{CCA9EFF0-406B-4385-9046-E7626806821F}"/>
              </a:ext>
            </a:extLst>
          </p:cNvPr>
          <p:cNvSpPr txBox="1">
            <a:spLocks/>
          </p:cNvSpPr>
          <p:nvPr/>
        </p:nvSpPr>
        <p:spPr>
          <a:xfrm>
            <a:off x="8539149" y="714972"/>
            <a:ext cx="1352479" cy="226136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永磁同步</a:t>
            </a:r>
          </a:p>
        </p:txBody>
      </p:sp>
      <p:sp>
        <p:nvSpPr>
          <p:cNvPr id="72" name="内容占位符 2">
            <a:extLst>
              <a:ext uri="{FF2B5EF4-FFF2-40B4-BE49-F238E27FC236}">
                <a16:creationId xmlns:a16="http://schemas.microsoft.com/office/drawing/2014/main" id="{C3125BD3-FE1E-4047-AF35-93C75857A6E8}"/>
              </a:ext>
            </a:extLst>
          </p:cNvPr>
          <p:cNvSpPr txBox="1">
            <a:spLocks/>
          </p:cNvSpPr>
          <p:nvPr/>
        </p:nvSpPr>
        <p:spPr>
          <a:xfrm>
            <a:off x="9169070" y="4529741"/>
            <a:ext cx="984091" cy="318937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预充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主正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BCC0FDDD-C062-41C9-A2D7-74694ED05572}"/>
              </a:ext>
            </a:extLst>
          </p:cNvPr>
          <p:cNvCxnSpPr>
            <a:cxnSpLocks/>
          </p:cNvCxnSpPr>
          <p:nvPr/>
        </p:nvCxnSpPr>
        <p:spPr>
          <a:xfrm>
            <a:off x="1000264" y="4199455"/>
            <a:ext cx="8156480" cy="29331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A184592D-57D9-4727-9C4F-E40743C85986}"/>
              </a:ext>
            </a:extLst>
          </p:cNvPr>
          <p:cNvSpPr txBox="1">
            <a:spLocks/>
          </p:cNvSpPr>
          <p:nvPr/>
        </p:nvSpPr>
        <p:spPr>
          <a:xfrm>
            <a:off x="6935862" y="4079679"/>
            <a:ext cx="2026711" cy="29675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VCU_PDU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上电指令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+DCDC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继电器请求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BC998D0B-24C4-4816-BF19-91036C37AE3F}"/>
              </a:ext>
            </a:extLst>
          </p:cNvPr>
          <p:cNvCxnSpPr>
            <a:cxnSpLocks/>
          </p:cNvCxnSpPr>
          <p:nvPr/>
        </p:nvCxnSpPr>
        <p:spPr>
          <a:xfrm flipH="1">
            <a:off x="966929" y="4704230"/>
            <a:ext cx="8189815" cy="30199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内容占位符 2">
            <a:extLst>
              <a:ext uri="{FF2B5EF4-FFF2-40B4-BE49-F238E27FC236}">
                <a16:creationId xmlns:a16="http://schemas.microsoft.com/office/drawing/2014/main" id="{F5F92BB8-D2EE-4C90-8822-26D371C6DCD1}"/>
              </a:ext>
            </a:extLst>
          </p:cNvPr>
          <p:cNvSpPr txBox="1">
            <a:spLocks/>
          </p:cNvSpPr>
          <p:nvPr/>
        </p:nvSpPr>
        <p:spPr>
          <a:xfrm>
            <a:off x="6925849" y="4857533"/>
            <a:ext cx="2144094" cy="52858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PDU_RelaySts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继电器状态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ACU1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电压等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88702F3B-7F47-4751-B0EF-B87E01D1DA98}"/>
              </a:ext>
            </a:extLst>
          </p:cNvPr>
          <p:cNvCxnSpPr>
            <a:cxnSpLocks/>
          </p:cNvCxnSpPr>
          <p:nvPr/>
        </p:nvCxnSpPr>
        <p:spPr>
          <a:xfrm>
            <a:off x="1030895" y="5240712"/>
            <a:ext cx="8170493" cy="40871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内容占位符 2">
            <a:extLst>
              <a:ext uri="{FF2B5EF4-FFF2-40B4-BE49-F238E27FC236}">
                <a16:creationId xmlns:a16="http://schemas.microsoft.com/office/drawing/2014/main" id="{D4C409D8-80E3-4477-A892-3BF4C152421E}"/>
              </a:ext>
            </a:extLst>
          </p:cNvPr>
          <p:cNvSpPr txBox="1">
            <a:spLocks/>
          </p:cNvSpPr>
          <p:nvPr/>
        </p:nvSpPr>
        <p:spPr>
          <a:xfrm>
            <a:off x="7264449" y="5312382"/>
            <a:ext cx="1677152" cy="26537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VCU_ACU1+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电机使能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1D5F22A5-076F-44B1-8DBD-9D59F8C5E003}"/>
              </a:ext>
            </a:extLst>
          </p:cNvPr>
          <p:cNvCxnSpPr>
            <a:cxnSpLocks/>
          </p:cNvCxnSpPr>
          <p:nvPr/>
        </p:nvCxnSpPr>
        <p:spPr>
          <a:xfrm>
            <a:off x="11395233" y="1311885"/>
            <a:ext cx="0" cy="5224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E17C10D9-0F5D-4BA0-BBD3-38B66D6535DE}"/>
              </a:ext>
            </a:extLst>
          </p:cNvPr>
          <p:cNvSpPr txBox="1">
            <a:spLocks/>
          </p:cNvSpPr>
          <p:nvPr/>
        </p:nvSpPr>
        <p:spPr>
          <a:xfrm>
            <a:off x="10745321" y="700410"/>
            <a:ext cx="1352479" cy="30617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制动电阻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0A68372-851A-44DD-813A-02FE08788A67}"/>
              </a:ext>
            </a:extLst>
          </p:cNvPr>
          <p:cNvCxnSpPr>
            <a:cxnSpLocks/>
          </p:cNvCxnSpPr>
          <p:nvPr/>
        </p:nvCxnSpPr>
        <p:spPr>
          <a:xfrm>
            <a:off x="977616" y="5913990"/>
            <a:ext cx="10360576" cy="54137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内容占位符 2">
            <a:extLst>
              <a:ext uri="{FF2B5EF4-FFF2-40B4-BE49-F238E27FC236}">
                <a16:creationId xmlns:a16="http://schemas.microsoft.com/office/drawing/2014/main" id="{B452268B-BFAE-410C-A991-F4ECB5D6CF2A}"/>
              </a:ext>
            </a:extLst>
          </p:cNvPr>
          <p:cNvSpPr txBox="1">
            <a:spLocks/>
          </p:cNvSpPr>
          <p:nvPr/>
        </p:nvSpPr>
        <p:spPr>
          <a:xfrm>
            <a:off x="9558559" y="6110814"/>
            <a:ext cx="1915797" cy="26123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000" dirty="0"/>
              <a:t>VCU2BRS</a:t>
            </a:r>
            <a:r>
              <a:rPr lang="zh-CN" altLang="en-US" sz="1000" dirty="0"/>
              <a:t>上电请求</a:t>
            </a:r>
          </a:p>
        </p:txBody>
      </p:sp>
      <p:sp>
        <p:nvSpPr>
          <p:cNvPr id="62" name="内容占位符 2">
            <a:extLst>
              <a:ext uri="{FF2B5EF4-FFF2-40B4-BE49-F238E27FC236}">
                <a16:creationId xmlns:a16="http://schemas.microsoft.com/office/drawing/2014/main" id="{78D7D917-633F-46EE-9C13-02E52F484183}"/>
              </a:ext>
            </a:extLst>
          </p:cNvPr>
          <p:cNvSpPr txBox="1">
            <a:spLocks/>
          </p:cNvSpPr>
          <p:nvPr/>
        </p:nvSpPr>
        <p:spPr>
          <a:xfrm>
            <a:off x="900774" y="6509480"/>
            <a:ext cx="6082116" cy="29789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开关磁阻、永磁同步、制动电阻无先后顺序，并行执行，可分别独立测试。</a:t>
            </a:r>
            <a:endParaRPr lang="en-US" altLang="zh-CN" sz="1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内容占位符 2">
            <a:extLst>
              <a:ext uri="{FF2B5EF4-FFF2-40B4-BE49-F238E27FC236}">
                <a16:creationId xmlns:a16="http://schemas.microsoft.com/office/drawing/2014/main" id="{43949E93-2787-4F4A-A6B9-D5400B8A704F}"/>
              </a:ext>
            </a:extLst>
          </p:cNvPr>
          <p:cNvSpPr txBox="1">
            <a:spLocks/>
          </p:cNvSpPr>
          <p:nvPr/>
        </p:nvSpPr>
        <p:spPr>
          <a:xfrm>
            <a:off x="979478" y="3398639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检测上电完成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内容占位符 2">
            <a:extLst>
              <a:ext uri="{FF2B5EF4-FFF2-40B4-BE49-F238E27FC236}">
                <a16:creationId xmlns:a16="http://schemas.microsoft.com/office/drawing/2014/main" id="{BDEA051E-BA4A-4198-BAFF-B1A15C21D9C6}"/>
              </a:ext>
            </a:extLst>
          </p:cNvPr>
          <p:cNvSpPr txBox="1">
            <a:spLocks/>
          </p:cNvSpPr>
          <p:nvPr/>
        </p:nvSpPr>
        <p:spPr>
          <a:xfrm>
            <a:off x="1044039" y="5004835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检测上电完成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432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BE62-1647-4B9D-A828-27135143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60" y="240720"/>
            <a:ext cx="2365793" cy="53144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高压下电流程：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1558AC-EEE4-4E84-93E3-2882FCEB3D58}"/>
              </a:ext>
            </a:extLst>
          </p:cNvPr>
          <p:cNvCxnSpPr>
            <a:cxnSpLocks/>
          </p:cNvCxnSpPr>
          <p:nvPr/>
        </p:nvCxnSpPr>
        <p:spPr>
          <a:xfrm flipH="1">
            <a:off x="802194" y="1239780"/>
            <a:ext cx="6878" cy="5130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2A81F9A-3571-45C7-9D5C-218900637D65}"/>
              </a:ext>
            </a:extLst>
          </p:cNvPr>
          <p:cNvCxnSpPr>
            <a:cxnSpLocks/>
          </p:cNvCxnSpPr>
          <p:nvPr/>
        </p:nvCxnSpPr>
        <p:spPr>
          <a:xfrm flipH="1">
            <a:off x="3625476" y="1239780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B04FA22-20FE-4481-8718-407B50947B40}"/>
              </a:ext>
            </a:extLst>
          </p:cNvPr>
          <p:cNvSpPr txBox="1">
            <a:spLocks/>
          </p:cNvSpPr>
          <p:nvPr/>
        </p:nvSpPr>
        <p:spPr>
          <a:xfrm>
            <a:off x="131634" y="770860"/>
            <a:ext cx="1352479" cy="30294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VCU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B05ED1E-AF91-492B-909A-D6B88AC218B3}"/>
              </a:ext>
            </a:extLst>
          </p:cNvPr>
          <p:cNvSpPr txBox="1">
            <a:spLocks/>
          </p:cNvSpPr>
          <p:nvPr/>
        </p:nvSpPr>
        <p:spPr>
          <a:xfrm>
            <a:off x="2984353" y="708340"/>
            <a:ext cx="1352479" cy="30294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BMS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4DB7F02-F616-4C25-91DE-631703F1733B}"/>
              </a:ext>
            </a:extLst>
          </p:cNvPr>
          <p:cNvCxnSpPr>
            <a:cxnSpLocks/>
          </p:cNvCxnSpPr>
          <p:nvPr/>
        </p:nvCxnSpPr>
        <p:spPr>
          <a:xfrm>
            <a:off x="802194" y="5011947"/>
            <a:ext cx="2858398" cy="3303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5313645C-01BD-4F2C-BBB8-CD6F6E177668}"/>
              </a:ext>
            </a:extLst>
          </p:cNvPr>
          <p:cNvSpPr txBox="1">
            <a:spLocks/>
          </p:cNvSpPr>
          <p:nvPr/>
        </p:nvSpPr>
        <p:spPr>
          <a:xfrm>
            <a:off x="1212282" y="4970382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发送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VCU_BMS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紧急下电命令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内容占位符 2">
            <a:extLst>
              <a:ext uri="{FF2B5EF4-FFF2-40B4-BE49-F238E27FC236}">
                <a16:creationId xmlns:a16="http://schemas.microsoft.com/office/drawing/2014/main" id="{15A8FF9B-6489-4ECD-BEBF-2F7A146694A8}"/>
              </a:ext>
            </a:extLst>
          </p:cNvPr>
          <p:cNvSpPr txBox="1">
            <a:spLocks/>
          </p:cNvSpPr>
          <p:nvPr/>
        </p:nvSpPr>
        <p:spPr>
          <a:xfrm>
            <a:off x="3412315" y="328874"/>
            <a:ext cx="1352479" cy="246302"/>
          </a:xfrm>
          <a:prstGeom prst="rect">
            <a:avLst/>
          </a:prstGeom>
        </p:spPr>
        <p:txBody>
          <a:bodyPr vert="horz" lIns="90000" tIns="46800" rIns="90000" bIns="46800" rtlCol="0">
            <a:normAutofit fontScale="92500"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None/>
              <a:defRPr sz="1000" b="1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</a:lvl9pPr>
          </a:lstStyle>
          <a:p>
            <a:r>
              <a:rPr lang="zh-CN" altLang="en-US" dirty="0"/>
              <a:t>钥匙</a:t>
            </a:r>
            <a:r>
              <a:rPr lang="en-US" altLang="zh-CN" dirty="0"/>
              <a:t>Off</a:t>
            </a:r>
            <a:r>
              <a:rPr lang="zh-CN" altLang="en-US" dirty="0"/>
              <a:t>或严重故障</a:t>
            </a:r>
          </a:p>
        </p:txBody>
      </p:sp>
      <p:sp>
        <p:nvSpPr>
          <p:cNvPr id="46" name="内容占位符 2">
            <a:extLst>
              <a:ext uri="{FF2B5EF4-FFF2-40B4-BE49-F238E27FC236}">
                <a16:creationId xmlns:a16="http://schemas.microsoft.com/office/drawing/2014/main" id="{B7B7EA3B-B569-41DB-86E4-AA4FD881323F}"/>
              </a:ext>
            </a:extLst>
          </p:cNvPr>
          <p:cNvSpPr txBox="1">
            <a:spLocks/>
          </p:cNvSpPr>
          <p:nvPr/>
        </p:nvSpPr>
        <p:spPr>
          <a:xfrm>
            <a:off x="3765990" y="5531685"/>
            <a:ext cx="901932" cy="23163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断开主负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404A811-D682-449E-BAEE-D10BC9D94D23}"/>
              </a:ext>
            </a:extLst>
          </p:cNvPr>
          <p:cNvCxnSpPr>
            <a:cxnSpLocks/>
          </p:cNvCxnSpPr>
          <p:nvPr/>
        </p:nvCxnSpPr>
        <p:spPr>
          <a:xfrm flipH="1">
            <a:off x="775846" y="5517671"/>
            <a:ext cx="2759958" cy="24564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内容占位符 2">
            <a:extLst>
              <a:ext uri="{FF2B5EF4-FFF2-40B4-BE49-F238E27FC236}">
                <a16:creationId xmlns:a16="http://schemas.microsoft.com/office/drawing/2014/main" id="{2340B960-DA55-4FC3-B35F-A20526BF5738}"/>
              </a:ext>
            </a:extLst>
          </p:cNvPr>
          <p:cNvSpPr txBox="1">
            <a:spLocks/>
          </p:cNvSpPr>
          <p:nvPr/>
        </p:nvSpPr>
        <p:spPr>
          <a:xfrm>
            <a:off x="1366068" y="5470113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返回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0x1E4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下电</a:t>
            </a: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NotReady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5BE850D-6746-49F9-B2A2-28E5266519D5}"/>
              </a:ext>
            </a:extLst>
          </p:cNvPr>
          <p:cNvCxnSpPr>
            <a:cxnSpLocks/>
          </p:cNvCxnSpPr>
          <p:nvPr/>
        </p:nvCxnSpPr>
        <p:spPr>
          <a:xfrm flipH="1">
            <a:off x="6513192" y="1415360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内容占位符 2">
            <a:extLst>
              <a:ext uri="{FF2B5EF4-FFF2-40B4-BE49-F238E27FC236}">
                <a16:creationId xmlns:a16="http://schemas.microsoft.com/office/drawing/2014/main" id="{A19CC6A3-EDB3-485B-B176-90F6DCE97F5F}"/>
              </a:ext>
            </a:extLst>
          </p:cNvPr>
          <p:cNvSpPr txBox="1">
            <a:spLocks/>
          </p:cNvSpPr>
          <p:nvPr/>
        </p:nvSpPr>
        <p:spPr>
          <a:xfrm>
            <a:off x="5643938" y="708340"/>
            <a:ext cx="1352479" cy="30294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开关磁阻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8459301-C1E2-428A-B0C9-197ADE5CB515}"/>
              </a:ext>
            </a:extLst>
          </p:cNvPr>
          <p:cNvCxnSpPr>
            <a:cxnSpLocks/>
          </p:cNvCxnSpPr>
          <p:nvPr/>
        </p:nvCxnSpPr>
        <p:spPr>
          <a:xfrm flipH="1">
            <a:off x="9009311" y="1312460"/>
            <a:ext cx="5679" cy="52019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A12804B2-4A96-4CCC-BCD0-3D567B95C479}"/>
              </a:ext>
            </a:extLst>
          </p:cNvPr>
          <p:cNvSpPr txBox="1">
            <a:spLocks/>
          </p:cNvSpPr>
          <p:nvPr/>
        </p:nvSpPr>
        <p:spPr>
          <a:xfrm>
            <a:off x="8273434" y="671272"/>
            <a:ext cx="1352479" cy="30294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永磁同步</a:t>
            </a:r>
          </a:p>
        </p:txBody>
      </p:sp>
      <p:sp>
        <p:nvSpPr>
          <p:cNvPr id="43" name="内容占位符 2">
            <a:extLst>
              <a:ext uri="{FF2B5EF4-FFF2-40B4-BE49-F238E27FC236}">
                <a16:creationId xmlns:a16="http://schemas.microsoft.com/office/drawing/2014/main" id="{F1CD3DFB-AD0F-4610-9CA5-A6B6860EC613}"/>
              </a:ext>
            </a:extLst>
          </p:cNvPr>
          <p:cNvSpPr txBox="1">
            <a:spLocks/>
          </p:cNvSpPr>
          <p:nvPr/>
        </p:nvSpPr>
        <p:spPr>
          <a:xfrm>
            <a:off x="6500063" y="1958808"/>
            <a:ext cx="950504" cy="23898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断开主正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0711ADE-616A-4F31-B791-616EA70F1C85}"/>
              </a:ext>
            </a:extLst>
          </p:cNvPr>
          <p:cNvCxnSpPr>
            <a:cxnSpLocks/>
          </p:cNvCxnSpPr>
          <p:nvPr/>
        </p:nvCxnSpPr>
        <p:spPr>
          <a:xfrm>
            <a:off x="830681" y="1634976"/>
            <a:ext cx="5645350" cy="29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内容占位符 2">
            <a:extLst>
              <a:ext uri="{FF2B5EF4-FFF2-40B4-BE49-F238E27FC236}">
                <a16:creationId xmlns:a16="http://schemas.microsoft.com/office/drawing/2014/main" id="{F8A16383-5396-4853-A7DA-2CE90256423E}"/>
              </a:ext>
            </a:extLst>
          </p:cNvPr>
          <p:cNvSpPr txBox="1">
            <a:spLocks/>
          </p:cNvSpPr>
          <p:nvPr/>
        </p:nvSpPr>
        <p:spPr>
          <a:xfrm>
            <a:off x="4066208" y="1681838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Ctrl_HVC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下电指令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30E539A8-93F3-4B23-B4BA-62B0857E7D36}"/>
              </a:ext>
            </a:extLst>
          </p:cNvPr>
          <p:cNvCxnSpPr>
            <a:cxnSpLocks/>
          </p:cNvCxnSpPr>
          <p:nvPr/>
        </p:nvCxnSpPr>
        <p:spPr>
          <a:xfrm flipH="1">
            <a:off x="820920" y="2198185"/>
            <a:ext cx="5702300" cy="293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内容占位符 2">
            <a:extLst>
              <a:ext uri="{FF2B5EF4-FFF2-40B4-BE49-F238E27FC236}">
                <a16:creationId xmlns:a16="http://schemas.microsoft.com/office/drawing/2014/main" id="{7F8FBCEC-DC3C-4729-A70F-ADFF21ECF780}"/>
              </a:ext>
            </a:extLst>
          </p:cNvPr>
          <p:cNvSpPr txBox="1">
            <a:spLocks/>
          </p:cNvSpPr>
          <p:nvPr/>
        </p:nvSpPr>
        <p:spPr>
          <a:xfrm>
            <a:off x="4066208" y="2050001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HVC4_RlySt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下电状态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9B44805-E0FA-469E-8D49-2F6737B7C9F2}"/>
              </a:ext>
            </a:extLst>
          </p:cNvPr>
          <p:cNvCxnSpPr>
            <a:cxnSpLocks/>
          </p:cNvCxnSpPr>
          <p:nvPr/>
        </p:nvCxnSpPr>
        <p:spPr>
          <a:xfrm>
            <a:off x="801877" y="3187072"/>
            <a:ext cx="8215073" cy="31083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内容占位符 2">
            <a:extLst>
              <a:ext uri="{FF2B5EF4-FFF2-40B4-BE49-F238E27FC236}">
                <a16:creationId xmlns:a16="http://schemas.microsoft.com/office/drawing/2014/main" id="{04C53973-5B61-436B-8134-2DAF55971AA2}"/>
              </a:ext>
            </a:extLst>
          </p:cNvPr>
          <p:cNvSpPr txBox="1">
            <a:spLocks/>
          </p:cNvSpPr>
          <p:nvPr/>
        </p:nvSpPr>
        <p:spPr>
          <a:xfrm>
            <a:off x="7014592" y="3253767"/>
            <a:ext cx="1677152" cy="29675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VCU_PDU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继电器指令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E1E10A3C-8CF5-4837-9500-9F48D214630D}"/>
              </a:ext>
            </a:extLst>
          </p:cNvPr>
          <p:cNvCxnSpPr>
            <a:cxnSpLocks/>
          </p:cNvCxnSpPr>
          <p:nvPr/>
        </p:nvCxnSpPr>
        <p:spPr>
          <a:xfrm flipH="1">
            <a:off x="796766" y="3761248"/>
            <a:ext cx="8230720" cy="27405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内容占位符 2">
            <a:extLst>
              <a:ext uri="{FF2B5EF4-FFF2-40B4-BE49-F238E27FC236}">
                <a16:creationId xmlns:a16="http://schemas.microsoft.com/office/drawing/2014/main" id="{56D71917-09F5-48E8-988E-F5E6EF5AF04E}"/>
              </a:ext>
            </a:extLst>
          </p:cNvPr>
          <p:cNvSpPr txBox="1">
            <a:spLocks/>
          </p:cNvSpPr>
          <p:nvPr/>
        </p:nvSpPr>
        <p:spPr>
          <a:xfrm>
            <a:off x="7290697" y="3635860"/>
            <a:ext cx="1677152" cy="39905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PDU_RelaySts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继电器状态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933A50F3-09E5-4144-A294-CE0136AF6ACE}"/>
              </a:ext>
            </a:extLst>
          </p:cNvPr>
          <p:cNvCxnSpPr>
            <a:cxnSpLocks/>
          </p:cNvCxnSpPr>
          <p:nvPr/>
        </p:nvCxnSpPr>
        <p:spPr>
          <a:xfrm>
            <a:off x="809072" y="1406116"/>
            <a:ext cx="5650777" cy="2910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内容占位符 2">
            <a:extLst>
              <a:ext uri="{FF2B5EF4-FFF2-40B4-BE49-F238E27FC236}">
                <a16:creationId xmlns:a16="http://schemas.microsoft.com/office/drawing/2014/main" id="{04A13034-D783-4C15-869C-1F9B530C8843}"/>
              </a:ext>
            </a:extLst>
          </p:cNvPr>
          <p:cNvSpPr txBox="1">
            <a:spLocks/>
          </p:cNvSpPr>
          <p:nvPr/>
        </p:nvSpPr>
        <p:spPr>
          <a:xfrm>
            <a:off x="4088554" y="1365224"/>
            <a:ext cx="1677152" cy="25397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VCU_DCDC1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关闭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CFCBF9EE-F69F-48FD-AE8A-2422B1F189B0}"/>
              </a:ext>
            </a:extLst>
          </p:cNvPr>
          <p:cNvCxnSpPr>
            <a:cxnSpLocks/>
          </p:cNvCxnSpPr>
          <p:nvPr/>
        </p:nvCxnSpPr>
        <p:spPr>
          <a:xfrm>
            <a:off x="848491" y="2898688"/>
            <a:ext cx="8151494" cy="34316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内容占位符 2">
            <a:extLst>
              <a:ext uri="{FF2B5EF4-FFF2-40B4-BE49-F238E27FC236}">
                <a16:creationId xmlns:a16="http://schemas.microsoft.com/office/drawing/2014/main" id="{2B80A22C-2F00-4C32-9480-49CBF19E2F7B}"/>
              </a:ext>
            </a:extLst>
          </p:cNvPr>
          <p:cNvSpPr txBox="1">
            <a:spLocks/>
          </p:cNvSpPr>
          <p:nvPr/>
        </p:nvSpPr>
        <p:spPr>
          <a:xfrm>
            <a:off x="7093194" y="2953196"/>
            <a:ext cx="1677152" cy="2373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VCU_ACU1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关闭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内容占位符 2">
            <a:extLst>
              <a:ext uri="{FF2B5EF4-FFF2-40B4-BE49-F238E27FC236}">
                <a16:creationId xmlns:a16="http://schemas.microsoft.com/office/drawing/2014/main" id="{B69D7139-70D8-4864-988E-D55FA6B16E33}"/>
              </a:ext>
            </a:extLst>
          </p:cNvPr>
          <p:cNvSpPr txBox="1">
            <a:spLocks/>
          </p:cNvSpPr>
          <p:nvPr/>
        </p:nvSpPr>
        <p:spPr>
          <a:xfrm>
            <a:off x="9067095" y="3240728"/>
            <a:ext cx="950504" cy="23898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断开主正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940C8EE-358F-4BB4-8570-14B7A41E95B3}"/>
              </a:ext>
            </a:extLst>
          </p:cNvPr>
          <p:cNvCxnSpPr>
            <a:cxnSpLocks/>
          </p:cNvCxnSpPr>
          <p:nvPr/>
        </p:nvCxnSpPr>
        <p:spPr>
          <a:xfrm>
            <a:off x="11223114" y="1285061"/>
            <a:ext cx="0" cy="5224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2B91B7CC-B323-4BE8-9898-6BE08D4C906F}"/>
              </a:ext>
            </a:extLst>
          </p:cNvPr>
          <p:cNvSpPr txBox="1">
            <a:spLocks/>
          </p:cNvSpPr>
          <p:nvPr/>
        </p:nvSpPr>
        <p:spPr>
          <a:xfrm>
            <a:off x="10573202" y="673586"/>
            <a:ext cx="1352479" cy="30617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制动电阻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6132B4C0-646F-4661-B5C9-D10BCD2C4EBB}"/>
              </a:ext>
            </a:extLst>
          </p:cNvPr>
          <p:cNvCxnSpPr>
            <a:cxnSpLocks/>
          </p:cNvCxnSpPr>
          <p:nvPr/>
        </p:nvCxnSpPr>
        <p:spPr>
          <a:xfrm>
            <a:off x="862538" y="4399149"/>
            <a:ext cx="10360576" cy="54137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29626326-1D47-4432-B1ED-2D39DF516D70}"/>
              </a:ext>
            </a:extLst>
          </p:cNvPr>
          <p:cNvSpPr txBox="1">
            <a:spLocks/>
          </p:cNvSpPr>
          <p:nvPr/>
        </p:nvSpPr>
        <p:spPr>
          <a:xfrm>
            <a:off x="9443481" y="4595973"/>
            <a:ext cx="1915797" cy="26123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000" dirty="0"/>
              <a:t>VCU2BRS</a:t>
            </a:r>
            <a:r>
              <a:rPr lang="zh-CN" altLang="en-US" sz="1000" dirty="0"/>
              <a:t>下电请求</a:t>
            </a:r>
          </a:p>
        </p:txBody>
      </p:sp>
      <p:sp>
        <p:nvSpPr>
          <p:cNvPr id="55" name="内容占位符 2">
            <a:extLst>
              <a:ext uri="{FF2B5EF4-FFF2-40B4-BE49-F238E27FC236}">
                <a16:creationId xmlns:a16="http://schemas.microsoft.com/office/drawing/2014/main" id="{5C1B2E07-CAF1-41F2-A2AA-98CE79D7BEF1}"/>
              </a:ext>
            </a:extLst>
          </p:cNvPr>
          <p:cNvSpPr txBox="1">
            <a:spLocks/>
          </p:cNvSpPr>
          <p:nvPr/>
        </p:nvSpPr>
        <p:spPr>
          <a:xfrm>
            <a:off x="900774" y="6509480"/>
            <a:ext cx="6082116" cy="29789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开关磁阻、永磁同步、制动电阻无先后顺序，并行执行，可分别独立测试。</a:t>
            </a:r>
            <a:endParaRPr lang="en-US" altLang="zh-CN" sz="1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内容占位符 2">
            <a:extLst>
              <a:ext uri="{FF2B5EF4-FFF2-40B4-BE49-F238E27FC236}">
                <a16:creationId xmlns:a16="http://schemas.microsoft.com/office/drawing/2014/main" id="{7E35B5D2-12FD-4749-9751-D4A39B28F98C}"/>
              </a:ext>
            </a:extLst>
          </p:cNvPr>
          <p:cNvSpPr txBox="1">
            <a:spLocks/>
          </p:cNvSpPr>
          <p:nvPr/>
        </p:nvSpPr>
        <p:spPr>
          <a:xfrm>
            <a:off x="789698" y="2520915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检测下电完成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内容占位符 2">
            <a:extLst>
              <a:ext uri="{FF2B5EF4-FFF2-40B4-BE49-F238E27FC236}">
                <a16:creationId xmlns:a16="http://schemas.microsoft.com/office/drawing/2014/main" id="{6C051BA4-B9BE-4BB6-8D42-10759E03AB11}"/>
              </a:ext>
            </a:extLst>
          </p:cNvPr>
          <p:cNvSpPr txBox="1">
            <a:spLocks/>
          </p:cNvSpPr>
          <p:nvPr/>
        </p:nvSpPr>
        <p:spPr>
          <a:xfrm>
            <a:off x="812709" y="4043700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检测下电完成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内容占位符 2">
            <a:extLst>
              <a:ext uri="{FF2B5EF4-FFF2-40B4-BE49-F238E27FC236}">
                <a16:creationId xmlns:a16="http://schemas.microsoft.com/office/drawing/2014/main" id="{396D8809-8133-407F-B4BF-D4211F652353}"/>
              </a:ext>
            </a:extLst>
          </p:cNvPr>
          <p:cNvSpPr txBox="1">
            <a:spLocks/>
          </p:cNvSpPr>
          <p:nvPr/>
        </p:nvSpPr>
        <p:spPr>
          <a:xfrm>
            <a:off x="831894" y="5829708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检测下电完成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561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BE62-1647-4B9D-A828-27135143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021" y="79546"/>
            <a:ext cx="2434479" cy="43844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充电启动流程：</a:t>
            </a:r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1558AC-EEE4-4E84-93E3-2882FCEB3D58}"/>
              </a:ext>
            </a:extLst>
          </p:cNvPr>
          <p:cNvCxnSpPr>
            <a:cxnSpLocks/>
          </p:cNvCxnSpPr>
          <p:nvPr/>
        </p:nvCxnSpPr>
        <p:spPr>
          <a:xfrm flipH="1">
            <a:off x="796787" y="975750"/>
            <a:ext cx="27849" cy="5633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2A81F9A-3571-45C7-9D5C-218900637D65}"/>
              </a:ext>
            </a:extLst>
          </p:cNvPr>
          <p:cNvCxnSpPr>
            <a:cxnSpLocks/>
          </p:cNvCxnSpPr>
          <p:nvPr/>
        </p:nvCxnSpPr>
        <p:spPr>
          <a:xfrm>
            <a:off x="3678332" y="940190"/>
            <a:ext cx="9273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B04FA22-20FE-4481-8718-407B50947B40}"/>
              </a:ext>
            </a:extLst>
          </p:cNvPr>
          <p:cNvSpPr txBox="1">
            <a:spLocks/>
          </p:cNvSpPr>
          <p:nvPr/>
        </p:nvSpPr>
        <p:spPr>
          <a:xfrm>
            <a:off x="146534" y="471270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VCU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B05ED1E-AF91-492B-909A-D6B88AC218B3}"/>
              </a:ext>
            </a:extLst>
          </p:cNvPr>
          <p:cNvSpPr txBox="1">
            <a:spLocks/>
          </p:cNvSpPr>
          <p:nvPr/>
        </p:nvSpPr>
        <p:spPr>
          <a:xfrm>
            <a:off x="2999253" y="408750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BMS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49B029FE-0C3A-4B2C-B378-ED27C1C788D8}"/>
              </a:ext>
            </a:extLst>
          </p:cNvPr>
          <p:cNvSpPr txBox="1">
            <a:spLocks/>
          </p:cNvSpPr>
          <p:nvPr/>
        </p:nvSpPr>
        <p:spPr>
          <a:xfrm>
            <a:off x="5787418" y="390290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OBC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85AEBBA-4A5B-4C45-9348-E92AFBAF8A48}"/>
              </a:ext>
            </a:extLst>
          </p:cNvPr>
          <p:cNvCxnSpPr>
            <a:cxnSpLocks/>
          </p:cNvCxnSpPr>
          <p:nvPr/>
        </p:nvCxnSpPr>
        <p:spPr>
          <a:xfrm>
            <a:off x="6463937" y="846990"/>
            <a:ext cx="65564" cy="569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3D904E5A-CF8B-4669-B4C7-135CFA13377A}"/>
              </a:ext>
            </a:extLst>
          </p:cNvPr>
          <p:cNvSpPr txBox="1">
            <a:spLocks/>
          </p:cNvSpPr>
          <p:nvPr/>
        </p:nvSpPr>
        <p:spPr>
          <a:xfrm>
            <a:off x="-1124198" y="1118434"/>
            <a:ext cx="1013349" cy="334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内容占位符 2">
            <a:extLst>
              <a:ext uri="{FF2B5EF4-FFF2-40B4-BE49-F238E27FC236}">
                <a16:creationId xmlns:a16="http://schemas.microsoft.com/office/drawing/2014/main" id="{796A2071-4446-4E5F-967B-2DD27A33F37E}"/>
              </a:ext>
            </a:extLst>
          </p:cNvPr>
          <p:cNvSpPr txBox="1">
            <a:spLocks/>
          </p:cNvSpPr>
          <p:nvPr/>
        </p:nvSpPr>
        <p:spPr>
          <a:xfrm>
            <a:off x="848059" y="796359"/>
            <a:ext cx="2839546" cy="676418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判断条件：</a:t>
            </a:r>
            <a:endParaRPr lang="en-US" altLang="zh-CN" sz="1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车速、档位、驻车</a:t>
            </a:r>
            <a:endParaRPr lang="en-US" altLang="zh-CN" sz="1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BMS: </a:t>
            </a:r>
            <a:r>
              <a:rPr lang="en-US" altLang="zh-CN" sz="1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SelfCheckStatus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AlarmLevel</a:t>
            </a:r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07C2947-15AF-4E40-871B-617F261C3091}"/>
              </a:ext>
            </a:extLst>
          </p:cNvPr>
          <p:cNvCxnSpPr>
            <a:cxnSpLocks/>
          </p:cNvCxnSpPr>
          <p:nvPr/>
        </p:nvCxnSpPr>
        <p:spPr>
          <a:xfrm>
            <a:off x="3686320" y="2095788"/>
            <a:ext cx="2824258" cy="19816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E6F6B908-1600-4983-BDF5-BA29945DB241}"/>
              </a:ext>
            </a:extLst>
          </p:cNvPr>
          <p:cNvSpPr txBox="1">
            <a:spLocks/>
          </p:cNvSpPr>
          <p:nvPr/>
        </p:nvSpPr>
        <p:spPr>
          <a:xfrm>
            <a:off x="4208121" y="1837056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发送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BMS_OBC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开始充电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电流限制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内容占位符 2">
            <a:extLst>
              <a:ext uri="{FF2B5EF4-FFF2-40B4-BE49-F238E27FC236}">
                <a16:creationId xmlns:a16="http://schemas.microsoft.com/office/drawing/2014/main" id="{ECC150B3-C933-4954-9F5C-75DF2CC19BA1}"/>
              </a:ext>
            </a:extLst>
          </p:cNvPr>
          <p:cNvSpPr txBox="1">
            <a:spLocks/>
          </p:cNvSpPr>
          <p:nvPr/>
        </p:nvSpPr>
        <p:spPr>
          <a:xfrm>
            <a:off x="6518566" y="2289693"/>
            <a:ext cx="1043513" cy="2186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开始充电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内容占位符 2">
            <a:extLst>
              <a:ext uri="{FF2B5EF4-FFF2-40B4-BE49-F238E27FC236}">
                <a16:creationId xmlns:a16="http://schemas.microsoft.com/office/drawing/2014/main" id="{5D84CBB4-9DF3-4FC6-A607-233C4B67F49A}"/>
              </a:ext>
            </a:extLst>
          </p:cNvPr>
          <p:cNvSpPr txBox="1">
            <a:spLocks/>
          </p:cNvSpPr>
          <p:nvPr/>
        </p:nvSpPr>
        <p:spPr>
          <a:xfrm>
            <a:off x="3088773" y="103841"/>
            <a:ext cx="4103056" cy="29222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车辆未上高压时进行充电操作，先闭合充电高压再充电。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92693D2-1E25-49AA-B3AC-E714891AC3D0}"/>
              </a:ext>
            </a:extLst>
          </p:cNvPr>
          <p:cNvCxnSpPr>
            <a:cxnSpLocks/>
          </p:cNvCxnSpPr>
          <p:nvPr/>
        </p:nvCxnSpPr>
        <p:spPr>
          <a:xfrm>
            <a:off x="8362248" y="956990"/>
            <a:ext cx="73143" cy="558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F77EF6E-34A0-49FC-8B41-10D614703561}"/>
              </a:ext>
            </a:extLst>
          </p:cNvPr>
          <p:cNvCxnSpPr>
            <a:cxnSpLocks/>
          </p:cNvCxnSpPr>
          <p:nvPr/>
        </p:nvCxnSpPr>
        <p:spPr>
          <a:xfrm>
            <a:off x="10912694" y="891424"/>
            <a:ext cx="61691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内容占位符 2">
            <a:extLst>
              <a:ext uri="{FF2B5EF4-FFF2-40B4-BE49-F238E27FC236}">
                <a16:creationId xmlns:a16="http://schemas.microsoft.com/office/drawing/2014/main" id="{9C908397-7AD3-45DF-B1F5-5742B41C10CF}"/>
              </a:ext>
            </a:extLst>
          </p:cNvPr>
          <p:cNvSpPr txBox="1">
            <a:spLocks/>
          </p:cNvSpPr>
          <p:nvPr/>
        </p:nvSpPr>
        <p:spPr>
          <a:xfrm>
            <a:off x="7722323" y="399416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开关磁阻</a:t>
            </a:r>
          </a:p>
        </p:txBody>
      </p:sp>
      <p:sp>
        <p:nvSpPr>
          <p:cNvPr id="40" name="内容占位符 2">
            <a:extLst>
              <a:ext uri="{FF2B5EF4-FFF2-40B4-BE49-F238E27FC236}">
                <a16:creationId xmlns:a16="http://schemas.microsoft.com/office/drawing/2014/main" id="{B588B85A-8327-446C-945C-9EF7AAF860FD}"/>
              </a:ext>
            </a:extLst>
          </p:cNvPr>
          <p:cNvSpPr txBox="1">
            <a:spLocks/>
          </p:cNvSpPr>
          <p:nvPr/>
        </p:nvSpPr>
        <p:spPr>
          <a:xfrm>
            <a:off x="10218614" y="341524"/>
            <a:ext cx="1352479" cy="31805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永磁同步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A73E3E4-F362-4912-8885-1B1E6DB33DC2}"/>
              </a:ext>
            </a:extLst>
          </p:cNvPr>
          <p:cNvCxnSpPr>
            <a:cxnSpLocks/>
          </p:cNvCxnSpPr>
          <p:nvPr/>
        </p:nvCxnSpPr>
        <p:spPr>
          <a:xfrm>
            <a:off x="846684" y="1854416"/>
            <a:ext cx="2880516" cy="148467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内容占位符 2">
            <a:extLst>
              <a:ext uri="{FF2B5EF4-FFF2-40B4-BE49-F238E27FC236}">
                <a16:creationId xmlns:a16="http://schemas.microsoft.com/office/drawing/2014/main" id="{017A8856-6D83-45AD-9DA3-BD930DE06C96}"/>
              </a:ext>
            </a:extLst>
          </p:cNvPr>
          <p:cNvSpPr txBox="1">
            <a:spLocks/>
          </p:cNvSpPr>
          <p:nvPr/>
        </p:nvSpPr>
        <p:spPr>
          <a:xfrm>
            <a:off x="1330047" y="1731423"/>
            <a:ext cx="1677152" cy="42552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发送</a:t>
            </a:r>
            <a:r>
              <a:rPr lang="en-US" altLang="zh-CN" sz="1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VCU_BMS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高压上电命令</a:t>
            </a:r>
            <a:endParaRPr lang="en-US" altLang="zh-CN" sz="1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内容占位符 2">
            <a:extLst>
              <a:ext uri="{FF2B5EF4-FFF2-40B4-BE49-F238E27FC236}">
                <a16:creationId xmlns:a16="http://schemas.microsoft.com/office/drawing/2014/main" id="{D6C601B5-90DA-4AF8-A738-D9974606E5E2}"/>
              </a:ext>
            </a:extLst>
          </p:cNvPr>
          <p:cNvSpPr txBox="1">
            <a:spLocks/>
          </p:cNvSpPr>
          <p:nvPr/>
        </p:nvSpPr>
        <p:spPr>
          <a:xfrm>
            <a:off x="1409320" y="2493055"/>
            <a:ext cx="1734653" cy="26144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BMS_Charger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 Status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7FED175-FFC8-4C86-9C07-DD3C0750017B}"/>
              </a:ext>
            </a:extLst>
          </p:cNvPr>
          <p:cNvCxnSpPr>
            <a:cxnSpLocks/>
          </p:cNvCxnSpPr>
          <p:nvPr/>
        </p:nvCxnSpPr>
        <p:spPr>
          <a:xfrm flipH="1">
            <a:off x="3684897" y="2421691"/>
            <a:ext cx="2777247" cy="15003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内容占位符 2">
            <a:extLst>
              <a:ext uri="{FF2B5EF4-FFF2-40B4-BE49-F238E27FC236}">
                <a16:creationId xmlns:a16="http://schemas.microsoft.com/office/drawing/2014/main" id="{4A4DBBB2-4324-4F3F-8313-27AEAA3074DA}"/>
              </a:ext>
            </a:extLst>
          </p:cNvPr>
          <p:cNvSpPr txBox="1">
            <a:spLocks/>
          </p:cNvSpPr>
          <p:nvPr/>
        </p:nvSpPr>
        <p:spPr>
          <a:xfrm>
            <a:off x="4266045" y="2359790"/>
            <a:ext cx="1858975" cy="32408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OBC_Charger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 Status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06D8DB5E-3FA1-4973-968C-D8194E1184CC}"/>
              </a:ext>
            </a:extLst>
          </p:cNvPr>
          <p:cNvCxnSpPr>
            <a:cxnSpLocks/>
          </p:cNvCxnSpPr>
          <p:nvPr/>
        </p:nvCxnSpPr>
        <p:spPr>
          <a:xfrm flipH="1">
            <a:off x="785869" y="2624620"/>
            <a:ext cx="2892463" cy="205246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内容占位符 2">
            <a:extLst>
              <a:ext uri="{FF2B5EF4-FFF2-40B4-BE49-F238E27FC236}">
                <a16:creationId xmlns:a16="http://schemas.microsoft.com/office/drawing/2014/main" id="{C3199BE3-0658-4125-AEC4-01D5CBB7C47C}"/>
              </a:ext>
            </a:extLst>
          </p:cNvPr>
          <p:cNvSpPr txBox="1">
            <a:spLocks/>
          </p:cNvSpPr>
          <p:nvPr/>
        </p:nvSpPr>
        <p:spPr>
          <a:xfrm>
            <a:off x="6634607" y="5669601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VCU_DCDC1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使能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内容占位符 2">
            <a:extLst>
              <a:ext uri="{FF2B5EF4-FFF2-40B4-BE49-F238E27FC236}">
                <a16:creationId xmlns:a16="http://schemas.microsoft.com/office/drawing/2014/main" id="{4EBD2234-52C0-4D8B-8C71-209B9C6D6F80}"/>
              </a:ext>
            </a:extLst>
          </p:cNvPr>
          <p:cNvSpPr txBox="1">
            <a:spLocks/>
          </p:cNvSpPr>
          <p:nvPr/>
        </p:nvSpPr>
        <p:spPr>
          <a:xfrm>
            <a:off x="846684" y="6201041"/>
            <a:ext cx="6345146" cy="581968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满足充电条件时才唤醒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充电过程是否需要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VCU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参与？充电请求与常规上电共用同一个指令？电流限制报文怎么办？</a:t>
            </a:r>
            <a:endParaRPr lang="en-US" altLang="zh-CN" sz="1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DCDC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无先后顺序，可并行执行；两套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DCDC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无先后顺序，可以独立测试；</a:t>
            </a:r>
            <a:endParaRPr lang="en-US" altLang="zh-CN" sz="1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715C07DA-846F-4B1A-8A6B-18ADCDD5EE20}"/>
              </a:ext>
            </a:extLst>
          </p:cNvPr>
          <p:cNvCxnSpPr>
            <a:cxnSpLocks/>
          </p:cNvCxnSpPr>
          <p:nvPr/>
        </p:nvCxnSpPr>
        <p:spPr>
          <a:xfrm>
            <a:off x="848059" y="4143081"/>
            <a:ext cx="7584839" cy="411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内容占位符 2">
            <a:extLst>
              <a:ext uri="{FF2B5EF4-FFF2-40B4-BE49-F238E27FC236}">
                <a16:creationId xmlns:a16="http://schemas.microsoft.com/office/drawing/2014/main" id="{0D239939-2D45-44A2-89BA-1F3CF8335C79}"/>
              </a:ext>
            </a:extLst>
          </p:cNvPr>
          <p:cNvSpPr txBox="1">
            <a:spLocks/>
          </p:cNvSpPr>
          <p:nvPr/>
        </p:nvSpPr>
        <p:spPr>
          <a:xfrm>
            <a:off x="6579239" y="4215452"/>
            <a:ext cx="1677152" cy="22506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VCU_DCDC1+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电机使能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C417F98E-C484-452F-B248-0E3B96F22F7F}"/>
              </a:ext>
            </a:extLst>
          </p:cNvPr>
          <p:cNvCxnSpPr>
            <a:cxnSpLocks/>
          </p:cNvCxnSpPr>
          <p:nvPr/>
        </p:nvCxnSpPr>
        <p:spPr>
          <a:xfrm>
            <a:off x="796787" y="3053911"/>
            <a:ext cx="7563701" cy="312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内容占位符 2">
            <a:extLst>
              <a:ext uri="{FF2B5EF4-FFF2-40B4-BE49-F238E27FC236}">
                <a16:creationId xmlns:a16="http://schemas.microsoft.com/office/drawing/2014/main" id="{38806BF8-8E58-47B6-8F2B-E234B42358DC}"/>
              </a:ext>
            </a:extLst>
          </p:cNvPr>
          <p:cNvSpPr txBox="1">
            <a:spLocks/>
          </p:cNvSpPr>
          <p:nvPr/>
        </p:nvSpPr>
        <p:spPr>
          <a:xfrm>
            <a:off x="6659852" y="2851371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Ctrl_HVC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上电指令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C038E360-8D8A-4984-BC72-CA6604D1FC34}"/>
              </a:ext>
            </a:extLst>
          </p:cNvPr>
          <p:cNvCxnSpPr>
            <a:cxnSpLocks/>
          </p:cNvCxnSpPr>
          <p:nvPr/>
        </p:nvCxnSpPr>
        <p:spPr>
          <a:xfrm flipH="1">
            <a:off x="874374" y="3649177"/>
            <a:ext cx="7458184" cy="192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内容占位符 2">
            <a:extLst>
              <a:ext uri="{FF2B5EF4-FFF2-40B4-BE49-F238E27FC236}">
                <a16:creationId xmlns:a16="http://schemas.microsoft.com/office/drawing/2014/main" id="{B7022DE6-3E15-4C48-8A25-2CA13A9BA109}"/>
              </a:ext>
            </a:extLst>
          </p:cNvPr>
          <p:cNvSpPr txBox="1">
            <a:spLocks/>
          </p:cNvSpPr>
          <p:nvPr/>
        </p:nvSpPr>
        <p:spPr>
          <a:xfrm>
            <a:off x="8465081" y="3411268"/>
            <a:ext cx="963497" cy="26857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预充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主正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内容占位符 2">
            <a:extLst>
              <a:ext uri="{FF2B5EF4-FFF2-40B4-BE49-F238E27FC236}">
                <a16:creationId xmlns:a16="http://schemas.microsoft.com/office/drawing/2014/main" id="{70E33CAA-E212-4B20-852D-405C746A412C}"/>
              </a:ext>
            </a:extLst>
          </p:cNvPr>
          <p:cNvSpPr txBox="1">
            <a:spLocks/>
          </p:cNvSpPr>
          <p:nvPr/>
        </p:nvSpPr>
        <p:spPr>
          <a:xfrm>
            <a:off x="6264651" y="3415998"/>
            <a:ext cx="2165626" cy="23192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HVC4_RlySt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上电状态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HVC7_HV1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电压等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E93EA956-251E-4772-B835-3233DAE37ACC}"/>
              </a:ext>
            </a:extLst>
          </p:cNvPr>
          <p:cNvCxnSpPr>
            <a:cxnSpLocks/>
          </p:cNvCxnSpPr>
          <p:nvPr/>
        </p:nvCxnSpPr>
        <p:spPr>
          <a:xfrm>
            <a:off x="848059" y="4721682"/>
            <a:ext cx="10101698" cy="36432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内容占位符 2">
            <a:extLst>
              <a:ext uri="{FF2B5EF4-FFF2-40B4-BE49-F238E27FC236}">
                <a16:creationId xmlns:a16="http://schemas.microsoft.com/office/drawing/2014/main" id="{71EE7C47-81D7-47E3-A812-651B81AEF513}"/>
              </a:ext>
            </a:extLst>
          </p:cNvPr>
          <p:cNvSpPr txBox="1">
            <a:spLocks/>
          </p:cNvSpPr>
          <p:nvPr/>
        </p:nvSpPr>
        <p:spPr>
          <a:xfrm>
            <a:off x="8777553" y="4651565"/>
            <a:ext cx="2026711" cy="29675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VCU_PDU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DCDC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继电器请求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5806E376-70BC-473B-AD7A-9D79AB365B8F}"/>
              </a:ext>
            </a:extLst>
          </p:cNvPr>
          <p:cNvCxnSpPr>
            <a:cxnSpLocks/>
          </p:cNvCxnSpPr>
          <p:nvPr/>
        </p:nvCxnSpPr>
        <p:spPr>
          <a:xfrm flipH="1">
            <a:off x="810711" y="5275798"/>
            <a:ext cx="10139047" cy="14667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内容占位符 2">
            <a:extLst>
              <a:ext uri="{FF2B5EF4-FFF2-40B4-BE49-F238E27FC236}">
                <a16:creationId xmlns:a16="http://schemas.microsoft.com/office/drawing/2014/main" id="{C20A371A-D04D-4786-8977-DAC882D093B7}"/>
              </a:ext>
            </a:extLst>
          </p:cNvPr>
          <p:cNvSpPr txBox="1">
            <a:spLocks/>
          </p:cNvSpPr>
          <p:nvPr/>
        </p:nvSpPr>
        <p:spPr>
          <a:xfrm>
            <a:off x="8718862" y="5450770"/>
            <a:ext cx="2144094" cy="52858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PDU_RelaySts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继电器状态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ACU1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电压等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2EDA88F5-1C56-4D0E-AA4F-0AB74078FE51}"/>
              </a:ext>
            </a:extLst>
          </p:cNvPr>
          <p:cNvCxnSpPr>
            <a:cxnSpLocks/>
          </p:cNvCxnSpPr>
          <p:nvPr/>
        </p:nvCxnSpPr>
        <p:spPr>
          <a:xfrm>
            <a:off x="801205" y="5767481"/>
            <a:ext cx="10193196" cy="47518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内容占位符 2">
            <a:extLst>
              <a:ext uri="{FF2B5EF4-FFF2-40B4-BE49-F238E27FC236}">
                <a16:creationId xmlns:a16="http://schemas.microsoft.com/office/drawing/2014/main" id="{EC69D92E-ECEB-4050-A577-59B03A1B4770}"/>
              </a:ext>
            </a:extLst>
          </p:cNvPr>
          <p:cNvSpPr txBox="1">
            <a:spLocks/>
          </p:cNvSpPr>
          <p:nvPr/>
        </p:nvSpPr>
        <p:spPr>
          <a:xfrm>
            <a:off x="9057462" y="5905619"/>
            <a:ext cx="1677152" cy="26537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VCU_DCDC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使能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内容占位符 2">
            <a:extLst>
              <a:ext uri="{FF2B5EF4-FFF2-40B4-BE49-F238E27FC236}">
                <a16:creationId xmlns:a16="http://schemas.microsoft.com/office/drawing/2014/main" id="{E3A4C102-C9F4-4D98-82C5-453290BB25A5}"/>
              </a:ext>
            </a:extLst>
          </p:cNvPr>
          <p:cNvSpPr txBox="1">
            <a:spLocks/>
          </p:cNvSpPr>
          <p:nvPr/>
        </p:nvSpPr>
        <p:spPr>
          <a:xfrm>
            <a:off x="796787" y="3925130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检测上电完成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内容占位符 2">
            <a:extLst>
              <a:ext uri="{FF2B5EF4-FFF2-40B4-BE49-F238E27FC236}">
                <a16:creationId xmlns:a16="http://schemas.microsoft.com/office/drawing/2014/main" id="{C9153C36-4D1F-4C7C-94B3-8A22C5F07B1F}"/>
              </a:ext>
            </a:extLst>
          </p:cNvPr>
          <p:cNvSpPr txBox="1">
            <a:spLocks/>
          </p:cNvSpPr>
          <p:nvPr/>
        </p:nvSpPr>
        <p:spPr>
          <a:xfrm>
            <a:off x="827609" y="5459815"/>
            <a:ext cx="1342807" cy="23398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检测上电完成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内容占位符 2">
            <a:extLst>
              <a:ext uri="{FF2B5EF4-FFF2-40B4-BE49-F238E27FC236}">
                <a16:creationId xmlns:a16="http://schemas.microsoft.com/office/drawing/2014/main" id="{9A70D86F-FC79-42FF-933E-D61A64DB5811}"/>
              </a:ext>
            </a:extLst>
          </p:cNvPr>
          <p:cNvSpPr txBox="1">
            <a:spLocks/>
          </p:cNvSpPr>
          <p:nvPr/>
        </p:nvSpPr>
        <p:spPr>
          <a:xfrm>
            <a:off x="10983510" y="5040131"/>
            <a:ext cx="963497" cy="26857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DCDC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内容占位符 2">
            <a:extLst>
              <a:ext uri="{FF2B5EF4-FFF2-40B4-BE49-F238E27FC236}">
                <a16:creationId xmlns:a16="http://schemas.microsoft.com/office/drawing/2014/main" id="{A2D92239-FF38-4796-89F4-75233992CB12}"/>
              </a:ext>
            </a:extLst>
          </p:cNvPr>
          <p:cNvSpPr txBox="1">
            <a:spLocks/>
          </p:cNvSpPr>
          <p:nvPr/>
        </p:nvSpPr>
        <p:spPr>
          <a:xfrm>
            <a:off x="864945" y="1448124"/>
            <a:ext cx="1734653" cy="26144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唤醒</a:t>
            </a:r>
            <a:r>
              <a:rPr lang="en-US" altLang="zh-CN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（默认不唤醒）</a:t>
            </a:r>
            <a:endParaRPr lang="en-US" altLang="zh-CN" sz="1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929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BE62-1647-4B9D-A828-27135143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93" y="126790"/>
            <a:ext cx="2487247" cy="43844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充电停止流程：</a:t>
            </a:r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1558AC-EEE4-4E84-93E3-2882FCEB3D58}"/>
              </a:ext>
            </a:extLst>
          </p:cNvPr>
          <p:cNvCxnSpPr>
            <a:cxnSpLocks/>
          </p:cNvCxnSpPr>
          <p:nvPr/>
        </p:nvCxnSpPr>
        <p:spPr>
          <a:xfrm flipH="1">
            <a:off x="878481" y="1036699"/>
            <a:ext cx="27849" cy="5633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2A81F9A-3571-45C7-9D5C-218900637D65}"/>
              </a:ext>
            </a:extLst>
          </p:cNvPr>
          <p:cNvCxnSpPr>
            <a:cxnSpLocks/>
          </p:cNvCxnSpPr>
          <p:nvPr/>
        </p:nvCxnSpPr>
        <p:spPr>
          <a:xfrm>
            <a:off x="3760026" y="1001139"/>
            <a:ext cx="9273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B04FA22-20FE-4481-8718-407B50947B40}"/>
              </a:ext>
            </a:extLst>
          </p:cNvPr>
          <p:cNvSpPr txBox="1">
            <a:spLocks/>
          </p:cNvSpPr>
          <p:nvPr/>
        </p:nvSpPr>
        <p:spPr>
          <a:xfrm>
            <a:off x="228228" y="53221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VCU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B05ED1E-AF91-492B-909A-D6B88AC218B3}"/>
              </a:ext>
            </a:extLst>
          </p:cNvPr>
          <p:cNvSpPr txBox="1">
            <a:spLocks/>
          </p:cNvSpPr>
          <p:nvPr/>
        </p:nvSpPr>
        <p:spPr>
          <a:xfrm>
            <a:off x="3080947" y="46969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BMS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49B029FE-0C3A-4B2C-B378-ED27C1C788D8}"/>
              </a:ext>
            </a:extLst>
          </p:cNvPr>
          <p:cNvSpPr txBox="1">
            <a:spLocks/>
          </p:cNvSpPr>
          <p:nvPr/>
        </p:nvSpPr>
        <p:spPr>
          <a:xfrm>
            <a:off x="5869112" y="45123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OBC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85AEBBA-4A5B-4C45-9348-E92AFBAF8A48}"/>
              </a:ext>
            </a:extLst>
          </p:cNvPr>
          <p:cNvCxnSpPr>
            <a:cxnSpLocks/>
          </p:cNvCxnSpPr>
          <p:nvPr/>
        </p:nvCxnSpPr>
        <p:spPr>
          <a:xfrm>
            <a:off x="6545631" y="907939"/>
            <a:ext cx="65564" cy="569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07C2947-15AF-4E40-871B-617F261C3091}"/>
              </a:ext>
            </a:extLst>
          </p:cNvPr>
          <p:cNvCxnSpPr>
            <a:cxnSpLocks/>
          </p:cNvCxnSpPr>
          <p:nvPr/>
        </p:nvCxnSpPr>
        <p:spPr>
          <a:xfrm>
            <a:off x="3770763" y="5148613"/>
            <a:ext cx="2824258" cy="19816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E6F6B908-1600-4983-BDF5-BA29945DB241}"/>
              </a:ext>
            </a:extLst>
          </p:cNvPr>
          <p:cNvSpPr txBox="1">
            <a:spLocks/>
          </p:cNvSpPr>
          <p:nvPr/>
        </p:nvSpPr>
        <p:spPr>
          <a:xfrm>
            <a:off x="4525654" y="4917359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发送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BMS_OBC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停止充电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内容占位符 2">
            <a:extLst>
              <a:ext uri="{FF2B5EF4-FFF2-40B4-BE49-F238E27FC236}">
                <a16:creationId xmlns:a16="http://schemas.microsoft.com/office/drawing/2014/main" id="{ECC150B3-C933-4954-9F5C-75DF2CC19BA1}"/>
              </a:ext>
            </a:extLst>
          </p:cNvPr>
          <p:cNvSpPr txBox="1">
            <a:spLocks/>
          </p:cNvSpPr>
          <p:nvPr/>
        </p:nvSpPr>
        <p:spPr>
          <a:xfrm>
            <a:off x="6623729" y="5266051"/>
            <a:ext cx="1043513" cy="2186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停止充电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92693D2-1E25-49AA-B3AC-E714891AC3D0}"/>
              </a:ext>
            </a:extLst>
          </p:cNvPr>
          <p:cNvCxnSpPr>
            <a:cxnSpLocks/>
          </p:cNvCxnSpPr>
          <p:nvPr/>
        </p:nvCxnSpPr>
        <p:spPr>
          <a:xfrm>
            <a:off x="8470917" y="799994"/>
            <a:ext cx="73143" cy="5581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F77EF6E-34A0-49FC-8B41-10D614703561}"/>
              </a:ext>
            </a:extLst>
          </p:cNvPr>
          <p:cNvCxnSpPr>
            <a:cxnSpLocks/>
          </p:cNvCxnSpPr>
          <p:nvPr/>
        </p:nvCxnSpPr>
        <p:spPr>
          <a:xfrm>
            <a:off x="9933783" y="1001139"/>
            <a:ext cx="61691" cy="5598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内容占位符 2">
            <a:extLst>
              <a:ext uri="{FF2B5EF4-FFF2-40B4-BE49-F238E27FC236}">
                <a16:creationId xmlns:a16="http://schemas.microsoft.com/office/drawing/2014/main" id="{9C908397-7AD3-45DF-B1F5-5742B41C10CF}"/>
              </a:ext>
            </a:extLst>
          </p:cNvPr>
          <p:cNvSpPr txBox="1">
            <a:spLocks/>
          </p:cNvSpPr>
          <p:nvPr/>
        </p:nvSpPr>
        <p:spPr>
          <a:xfrm>
            <a:off x="7804017" y="460365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开关磁阻</a:t>
            </a:r>
          </a:p>
        </p:txBody>
      </p:sp>
      <p:sp>
        <p:nvSpPr>
          <p:cNvPr id="40" name="内容占位符 2">
            <a:extLst>
              <a:ext uri="{FF2B5EF4-FFF2-40B4-BE49-F238E27FC236}">
                <a16:creationId xmlns:a16="http://schemas.microsoft.com/office/drawing/2014/main" id="{B588B85A-8327-446C-945C-9EF7AAF860FD}"/>
              </a:ext>
            </a:extLst>
          </p:cNvPr>
          <p:cNvSpPr txBox="1">
            <a:spLocks/>
          </p:cNvSpPr>
          <p:nvPr/>
        </p:nvSpPr>
        <p:spPr>
          <a:xfrm>
            <a:off x="9239703" y="451239"/>
            <a:ext cx="1352479" cy="5314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永磁同步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A73E3E4-F362-4912-8885-1B1E6DB33DC2}"/>
              </a:ext>
            </a:extLst>
          </p:cNvPr>
          <p:cNvCxnSpPr>
            <a:cxnSpLocks/>
          </p:cNvCxnSpPr>
          <p:nvPr/>
        </p:nvCxnSpPr>
        <p:spPr>
          <a:xfrm>
            <a:off x="909326" y="4706744"/>
            <a:ext cx="2877675" cy="20508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03A63130-F07E-4A8C-AD45-739B3A4E054A}"/>
              </a:ext>
            </a:extLst>
          </p:cNvPr>
          <p:cNvSpPr txBox="1">
            <a:spLocks/>
          </p:cNvSpPr>
          <p:nvPr/>
        </p:nvSpPr>
        <p:spPr>
          <a:xfrm>
            <a:off x="8507231" y="1860645"/>
            <a:ext cx="1352479" cy="28676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继电器操作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EE8C719-E899-4A4D-B998-7E91D25B12A2}"/>
              </a:ext>
            </a:extLst>
          </p:cNvPr>
          <p:cNvCxnSpPr>
            <a:cxnSpLocks/>
          </p:cNvCxnSpPr>
          <p:nvPr/>
        </p:nvCxnSpPr>
        <p:spPr>
          <a:xfrm>
            <a:off x="963455" y="1373628"/>
            <a:ext cx="7552994" cy="455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内容占位符 2">
            <a:extLst>
              <a:ext uri="{FF2B5EF4-FFF2-40B4-BE49-F238E27FC236}">
                <a16:creationId xmlns:a16="http://schemas.microsoft.com/office/drawing/2014/main" id="{C49C3AFD-27EA-4BBE-9C7B-0F5786D1258B}"/>
              </a:ext>
            </a:extLst>
          </p:cNvPr>
          <p:cNvSpPr txBox="1">
            <a:spLocks/>
          </p:cNvSpPr>
          <p:nvPr/>
        </p:nvSpPr>
        <p:spPr>
          <a:xfrm>
            <a:off x="6789408" y="1559682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Ctrl_HVC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下电指令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0850F24-2E15-47EC-90DD-0A27458531AF}"/>
              </a:ext>
            </a:extLst>
          </p:cNvPr>
          <p:cNvCxnSpPr>
            <a:cxnSpLocks/>
          </p:cNvCxnSpPr>
          <p:nvPr/>
        </p:nvCxnSpPr>
        <p:spPr>
          <a:xfrm flipH="1">
            <a:off x="955719" y="2114513"/>
            <a:ext cx="7563023" cy="433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3DDBEE13-7AE8-4CF1-8741-A07A601034AC}"/>
              </a:ext>
            </a:extLst>
          </p:cNvPr>
          <p:cNvSpPr txBox="1">
            <a:spLocks/>
          </p:cNvSpPr>
          <p:nvPr/>
        </p:nvSpPr>
        <p:spPr>
          <a:xfrm>
            <a:off x="6717664" y="1856253"/>
            <a:ext cx="1677152" cy="2807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HVC4_RlySt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下电状态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C4040DD-5D3E-437B-840C-DF18D2F334F3}"/>
              </a:ext>
            </a:extLst>
          </p:cNvPr>
          <p:cNvCxnSpPr>
            <a:cxnSpLocks/>
          </p:cNvCxnSpPr>
          <p:nvPr/>
        </p:nvCxnSpPr>
        <p:spPr>
          <a:xfrm>
            <a:off x="905456" y="3154901"/>
            <a:ext cx="9007329" cy="537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内容占位符 2">
            <a:extLst>
              <a:ext uri="{FF2B5EF4-FFF2-40B4-BE49-F238E27FC236}">
                <a16:creationId xmlns:a16="http://schemas.microsoft.com/office/drawing/2014/main" id="{67C00D07-CC90-4E68-AB20-319B4B4A1685}"/>
              </a:ext>
            </a:extLst>
          </p:cNvPr>
          <p:cNvSpPr txBox="1">
            <a:spLocks/>
          </p:cNvSpPr>
          <p:nvPr/>
        </p:nvSpPr>
        <p:spPr>
          <a:xfrm>
            <a:off x="8344894" y="3413662"/>
            <a:ext cx="1677152" cy="29675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VCU_PDU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下电继电器指令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A250229-4B7F-4ADC-AD87-4BD1DF57E2D0}"/>
              </a:ext>
            </a:extLst>
          </p:cNvPr>
          <p:cNvCxnSpPr>
            <a:cxnSpLocks/>
          </p:cNvCxnSpPr>
          <p:nvPr/>
        </p:nvCxnSpPr>
        <p:spPr>
          <a:xfrm flipH="1">
            <a:off x="884248" y="3901795"/>
            <a:ext cx="9049743" cy="556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内容占位符 2">
            <a:extLst>
              <a:ext uri="{FF2B5EF4-FFF2-40B4-BE49-F238E27FC236}">
                <a16:creationId xmlns:a16="http://schemas.microsoft.com/office/drawing/2014/main" id="{3DCCED8C-4639-425F-AC1F-A1F5D0E58953}"/>
              </a:ext>
            </a:extLst>
          </p:cNvPr>
          <p:cNvSpPr txBox="1">
            <a:spLocks/>
          </p:cNvSpPr>
          <p:nvPr/>
        </p:nvSpPr>
        <p:spPr>
          <a:xfrm>
            <a:off x="8331608" y="3962472"/>
            <a:ext cx="1677152" cy="39905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PDU_RelaySts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继电器状态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2CC66CBF-24B5-4A89-BCCD-1ABCFA03BF54}"/>
              </a:ext>
            </a:extLst>
          </p:cNvPr>
          <p:cNvCxnSpPr>
            <a:cxnSpLocks/>
          </p:cNvCxnSpPr>
          <p:nvPr/>
        </p:nvCxnSpPr>
        <p:spPr>
          <a:xfrm>
            <a:off x="919380" y="2982221"/>
            <a:ext cx="9000165" cy="49811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EF191728-6E37-4315-AAC4-26DA41DF3E43}"/>
              </a:ext>
            </a:extLst>
          </p:cNvPr>
          <p:cNvSpPr txBox="1">
            <a:spLocks/>
          </p:cNvSpPr>
          <p:nvPr/>
        </p:nvSpPr>
        <p:spPr>
          <a:xfrm>
            <a:off x="8376867" y="3114906"/>
            <a:ext cx="1677152" cy="26354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VCU_ACU1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关闭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内容占位符 2">
            <a:extLst>
              <a:ext uri="{FF2B5EF4-FFF2-40B4-BE49-F238E27FC236}">
                <a16:creationId xmlns:a16="http://schemas.microsoft.com/office/drawing/2014/main" id="{017A8856-6D83-45AD-9DA3-BD930DE06C96}"/>
              </a:ext>
            </a:extLst>
          </p:cNvPr>
          <p:cNvSpPr txBox="1">
            <a:spLocks/>
          </p:cNvSpPr>
          <p:nvPr/>
        </p:nvSpPr>
        <p:spPr>
          <a:xfrm>
            <a:off x="1391822" y="4589965"/>
            <a:ext cx="1677152" cy="53144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发送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VCU_BMS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高压下电命令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内容占位符 2">
            <a:extLst>
              <a:ext uri="{FF2B5EF4-FFF2-40B4-BE49-F238E27FC236}">
                <a16:creationId xmlns:a16="http://schemas.microsoft.com/office/drawing/2014/main" id="{30484380-D397-4486-A3F4-370D9D789590}"/>
              </a:ext>
            </a:extLst>
          </p:cNvPr>
          <p:cNvSpPr txBox="1">
            <a:spLocks/>
          </p:cNvSpPr>
          <p:nvPr/>
        </p:nvSpPr>
        <p:spPr>
          <a:xfrm>
            <a:off x="3890692" y="4844668"/>
            <a:ext cx="1170456" cy="27469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继电器操作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内容占位符 2">
            <a:extLst>
              <a:ext uri="{FF2B5EF4-FFF2-40B4-BE49-F238E27FC236}">
                <a16:creationId xmlns:a16="http://schemas.microsoft.com/office/drawing/2014/main" id="{D6C601B5-90DA-4AF8-A738-D9974606E5E2}"/>
              </a:ext>
            </a:extLst>
          </p:cNvPr>
          <p:cNvSpPr txBox="1">
            <a:spLocks/>
          </p:cNvSpPr>
          <p:nvPr/>
        </p:nvSpPr>
        <p:spPr>
          <a:xfrm>
            <a:off x="1432863" y="5598341"/>
            <a:ext cx="1677152" cy="2542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BMS_Charger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 Status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7FED175-FFC8-4C86-9C07-DD3C0750017B}"/>
              </a:ext>
            </a:extLst>
          </p:cNvPr>
          <p:cNvCxnSpPr>
            <a:cxnSpLocks/>
          </p:cNvCxnSpPr>
          <p:nvPr/>
        </p:nvCxnSpPr>
        <p:spPr>
          <a:xfrm flipH="1">
            <a:off x="3740947" y="5431371"/>
            <a:ext cx="2798707" cy="22935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内容占位符 2">
            <a:extLst>
              <a:ext uri="{FF2B5EF4-FFF2-40B4-BE49-F238E27FC236}">
                <a16:creationId xmlns:a16="http://schemas.microsoft.com/office/drawing/2014/main" id="{4A4DBBB2-4324-4F3F-8313-27AEAA3074DA}"/>
              </a:ext>
            </a:extLst>
          </p:cNvPr>
          <p:cNvSpPr txBox="1">
            <a:spLocks/>
          </p:cNvSpPr>
          <p:nvPr/>
        </p:nvSpPr>
        <p:spPr>
          <a:xfrm>
            <a:off x="4322096" y="5448799"/>
            <a:ext cx="1858975" cy="32408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 err="1">
                <a:latin typeface="宋体" panose="02010600030101010101" pitchFamily="2" charset="-122"/>
                <a:ea typeface="宋体" panose="02010600030101010101" pitchFamily="2" charset="-122"/>
              </a:rPr>
              <a:t>OBC_Charger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 Status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06D8DB5E-3FA1-4973-968C-D8194E1184CC}"/>
              </a:ext>
            </a:extLst>
          </p:cNvPr>
          <p:cNvCxnSpPr>
            <a:cxnSpLocks/>
          </p:cNvCxnSpPr>
          <p:nvPr/>
        </p:nvCxnSpPr>
        <p:spPr>
          <a:xfrm flipH="1">
            <a:off x="878225" y="5702448"/>
            <a:ext cx="2878920" cy="209972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B32F970-30CA-474A-93FF-82BA58E0F67B}"/>
              </a:ext>
            </a:extLst>
          </p:cNvPr>
          <p:cNvCxnSpPr>
            <a:cxnSpLocks/>
          </p:cNvCxnSpPr>
          <p:nvPr/>
        </p:nvCxnSpPr>
        <p:spPr>
          <a:xfrm>
            <a:off x="908493" y="1135306"/>
            <a:ext cx="7583756" cy="3942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内容占位符 2">
            <a:extLst>
              <a:ext uri="{FF2B5EF4-FFF2-40B4-BE49-F238E27FC236}">
                <a16:creationId xmlns:a16="http://schemas.microsoft.com/office/drawing/2014/main" id="{B8A6AA23-BE15-48E1-A999-A7CE0212FE71}"/>
              </a:ext>
            </a:extLst>
          </p:cNvPr>
          <p:cNvSpPr txBox="1">
            <a:spLocks/>
          </p:cNvSpPr>
          <p:nvPr/>
        </p:nvSpPr>
        <p:spPr>
          <a:xfrm>
            <a:off x="6714461" y="1166508"/>
            <a:ext cx="1677152" cy="27947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VCU_DCDC1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关闭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内容占位符 2">
            <a:extLst>
              <a:ext uri="{FF2B5EF4-FFF2-40B4-BE49-F238E27FC236}">
                <a16:creationId xmlns:a16="http://schemas.microsoft.com/office/drawing/2014/main" id="{A8F4F3E9-1200-4A26-B7E3-C272A90D450C}"/>
              </a:ext>
            </a:extLst>
          </p:cNvPr>
          <p:cNvSpPr txBox="1">
            <a:spLocks/>
          </p:cNvSpPr>
          <p:nvPr/>
        </p:nvSpPr>
        <p:spPr>
          <a:xfrm>
            <a:off x="3088773" y="103841"/>
            <a:ext cx="1526770" cy="27343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断开充电开关</a:t>
            </a:r>
          </a:p>
        </p:txBody>
      </p:sp>
      <p:sp>
        <p:nvSpPr>
          <p:cNvPr id="69" name="内容占位符 2">
            <a:extLst>
              <a:ext uri="{FF2B5EF4-FFF2-40B4-BE49-F238E27FC236}">
                <a16:creationId xmlns:a16="http://schemas.microsoft.com/office/drawing/2014/main" id="{ECA0C1F2-96D1-4A55-9F42-55584A255164}"/>
              </a:ext>
            </a:extLst>
          </p:cNvPr>
          <p:cNvSpPr txBox="1">
            <a:spLocks/>
          </p:cNvSpPr>
          <p:nvPr/>
        </p:nvSpPr>
        <p:spPr>
          <a:xfrm>
            <a:off x="9952613" y="3692527"/>
            <a:ext cx="1352479" cy="286763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继电器操作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内容占位符 2">
            <a:extLst>
              <a:ext uri="{FF2B5EF4-FFF2-40B4-BE49-F238E27FC236}">
                <a16:creationId xmlns:a16="http://schemas.microsoft.com/office/drawing/2014/main" id="{095F2C5A-DDDD-42D1-8071-EFC1CAA2D362}"/>
              </a:ext>
            </a:extLst>
          </p:cNvPr>
          <p:cNvSpPr txBox="1">
            <a:spLocks/>
          </p:cNvSpPr>
          <p:nvPr/>
        </p:nvSpPr>
        <p:spPr>
          <a:xfrm>
            <a:off x="905456" y="2580578"/>
            <a:ext cx="1824089" cy="26144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检测下电完成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内容占位符 2">
            <a:extLst>
              <a:ext uri="{FF2B5EF4-FFF2-40B4-BE49-F238E27FC236}">
                <a16:creationId xmlns:a16="http://schemas.microsoft.com/office/drawing/2014/main" id="{27EEB4C1-0B54-47EA-A6FE-C51670D7B36A}"/>
              </a:ext>
            </a:extLst>
          </p:cNvPr>
          <p:cNvSpPr txBox="1">
            <a:spLocks/>
          </p:cNvSpPr>
          <p:nvPr/>
        </p:nvSpPr>
        <p:spPr>
          <a:xfrm>
            <a:off x="893181" y="4438385"/>
            <a:ext cx="1824089" cy="26144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检测下电完成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内容占位符 2">
            <a:extLst>
              <a:ext uri="{FF2B5EF4-FFF2-40B4-BE49-F238E27FC236}">
                <a16:creationId xmlns:a16="http://schemas.microsoft.com/office/drawing/2014/main" id="{00FC45B2-F0DF-4B4B-9452-68D399644E94}"/>
              </a:ext>
            </a:extLst>
          </p:cNvPr>
          <p:cNvSpPr txBox="1">
            <a:spLocks/>
          </p:cNvSpPr>
          <p:nvPr/>
        </p:nvSpPr>
        <p:spPr>
          <a:xfrm>
            <a:off x="876445" y="6499759"/>
            <a:ext cx="6345146" cy="33807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704020202020204" pitchFamily="34" charset="0"/>
              <a:buNone/>
            </a:pP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充电过程是否需要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VCU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参与？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VCU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参与的话，可能造成先断开主负，而后</a:t>
            </a:r>
            <a:r>
              <a:rPr lang="en-US" altLang="zh-CN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OBC</a:t>
            </a:r>
            <a:r>
              <a:rPr lang="zh-CN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停止充电的情况。</a:t>
            </a:r>
            <a:endParaRPr lang="en-US" altLang="zh-CN" sz="1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76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710</Words>
  <Application>Microsoft Office PowerPoint</Application>
  <PresentationFormat>宽屏</PresentationFormat>
  <Paragraphs>169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后华 井</dc:creator>
  <cp:lastModifiedBy>后华 井</cp:lastModifiedBy>
  <cp:revision>6</cp:revision>
  <dcterms:created xsi:type="dcterms:W3CDTF">2026-09-21T13:33:30Z</dcterms:created>
  <dcterms:modified xsi:type="dcterms:W3CDTF">2026-09-21T13:39:42Z</dcterms:modified>
</cp:coreProperties>
</file>